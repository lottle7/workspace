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E39"/>
    <a:srgbClr val="172C5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8" autoAdjust="0"/>
  </p:normalViewPr>
  <p:slideViewPr>
    <p:cSldViewPr snapToGrid="0">
      <p:cViewPr varScale="1">
        <p:scale>
          <a:sx n="81" d="100"/>
          <a:sy n="81" d="100"/>
        </p:scale>
        <p:origin x="9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08BBC-F6BF-4E84-80CC-34D1381E2402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E4FB2-3C42-4261-A34F-DB44F19C98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6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E4FB2-3C42-4261-A34F-DB44F19C988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63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D7385-3B79-8822-EEBB-D34135E5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990954-6275-BEF2-1BB8-F8589518D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293078-8A46-28EF-F27F-2B7B5F23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8D0998-DA50-6962-D3A6-FC81AA2D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9E2C7-06C1-8E9C-D3EB-E78141BF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58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F8AEB-FE8E-00DC-FA69-2EF72C1D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BDF29-A3AA-D5D8-2B9D-00D3FB62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C564D-55A4-1557-10BE-43C676784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C708D-6D85-DECD-029E-9281111A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81201-90F1-C2D9-DDFC-A42F6EE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9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6C5F9-EE68-9AB0-2EDE-9D8CAC9D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FB09AA-058B-E5C1-FA6F-0938D21C3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7FADED-42CA-CF0C-AECA-0AA9A91D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89445-058E-9345-0F3B-3121E1F9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D4C89-8D04-D99D-8469-82E8B530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8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A570A-B0D8-980B-8958-345EA222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B82E56-EF40-3DD8-C556-0A6B7A0CD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19B1F2-B103-C189-DA07-97864F9B2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09F4B-91E4-2CC9-5229-51DCC7C5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01EBD-2801-1B39-855A-C6879680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07643F-34F2-A71F-1BAA-268EF5AB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17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99F19-0A8C-9644-EFEC-58392FF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F395EF-D799-D1E0-D7DE-D4E673D00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1BB33C-7072-0B3E-D50D-1D5A2D195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FD9569-B555-F54A-F737-6A8FD6DDA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0CEBB4-AFFA-842D-0BD6-1FBD85581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3605F4-3F36-95DD-0895-1A31C475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0442B3-EBB4-1036-B8C1-BFCFC0B9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732814-2CF8-64E0-8545-B70F0FD8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71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AFF97-0273-D545-4F8D-52EDDB80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30E5D-04E3-F15D-8FF1-03C82518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509D7E-9FFB-E0A3-BCA9-4F9DEFE7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68A29E-BF2D-E3AF-01E2-9F03686E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62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AE3A25-2E19-5F6E-D0C1-1200401A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1F1E54-E66B-B328-B54B-ED1D8550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41FEB4-686B-6428-D6BE-7BB038FE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35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811A7-BCB1-B18C-7B0C-EE1786D2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6E120-EA86-7DF9-3E1C-6FA73F70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7A3330-E91C-194C-459F-BC461415A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23FFD1-0720-7A47-16CE-D4A785C6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BE5863-4AC9-56EA-2D01-66688197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1BFF0D-55C0-C32E-E7A2-A0DDB5EA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2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396D-33A4-4B10-00FA-586777DB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57C492-9CDB-4553-C765-17B559149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5DDCF-F9AB-6A0C-0E2F-84635561C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2D8FAF-CC02-584E-5611-A7FAFC12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7EFA3-CFFC-D6A2-3AF2-4152677C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475328-AF56-E995-967F-9E495374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53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DE59C-80F2-A02B-2C09-6CCD85E0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ED22A4-CB5C-B780-80A6-BDDB7B553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837018-FFC0-503C-3BB8-0572FEBF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23923D-CBAC-DC81-DB74-6E2ABE01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5D460-07B1-7E82-2EDC-67D1A1FC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72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C74C0F-EC98-DFCF-AA3E-14776E8B4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531ABE-95F9-6B8D-D806-92390B3B2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D38DF-F1B9-6135-C8B9-DF69DB32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AC84B-FA9E-06B3-B385-07865353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62DB56-58D1-5F7E-937F-D5EA32B6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3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4AAA0F-D604-DD71-465D-38FD7998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0613EB-5814-63F9-BFE0-6876AC74C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B4ACD-3FD0-4ABA-3404-5545E5119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89F0-17FA-4A0B-8160-A9C6F2717889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0D66B-BC1F-E0E6-7317-DF427F2A1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85C35C-430F-2EA8-7C5B-295AF42A6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0420C-33A2-4A40-9093-39C6B0D34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33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425D85A-797E-1CDB-5563-8E30E1CB6613}"/>
              </a:ext>
            </a:extLst>
          </p:cNvPr>
          <p:cNvSpPr/>
          <p:nvPr/>
        </p:nvSpPr>
        <p:spPr>
          <a:xfrm>
            <a:off x="1042633" y="804782"/>
            <a:ext cx="1702123" cy="4880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图谱构建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6FE1D92-B0E3-2F74-B555-CF5F810231DE}"/>
              </a:ext>
            </a:extLst>
          </p:cNvPr>
          <p:cNvSpPr/>
          <p:nvPr/>
        </p:nvSpPr>
        <p:spPr>
          <a:xfrm>
            <a:off x="3787387" y="838340"/>
            <a:ext cx="1758905" cy="488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边权评估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C5A9581-F06B-8E29-5077-3285F0DDBA58}"/>
              </a:ext>
            </a:extLst>
          </p:cNvPr>
          <p:cNvSpPr/>
          <p:nvPr/>
        </p:nvSpPr>
        <p:spPr>
          <a:xfrm>
            <a:off x="6588925" y="841196"/>
            <a:ext cx="1758905" cy="48804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图表示学习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465F811-F344-AA61-64A2-8784C3F16F35}"/>
              </a:ext>
            </a:extLst>
          </p:cNvPr>
          <p:cNvSpPr/>
          <p:nvPr/>
        </p:nvSpPr>
        <p:spPr>
          <a:xfrm>
            <a:off x="9390463" y="838339"/>
            <a:ext cx="1758904" cy="488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动态演化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0858FFE-0720-1C4A-4696-7DC4DAB22AF1}"/>
              </a:ext>
            </a:extLst>
          </p:cNvPr>
          <p:cNvSpPr/>
          <p:nvPr/>
        </p:nvSpPr>
        <p:spPr>
          <a:xfrm>
            <a:off x="4467326" y="1"/>
            <a:ext cx="3257349" cy="362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社交关系图谱构建与表示框架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3F4046-96A6-CA69-687B-C5E31AE1836C}"/>
              </a:ext>
            </a:extLst>
          </p:cNvPr>
          <p:cNvSpPr/>
          <p:nvPr/>
        </p:nvSpPr>
        <p:spPr>
          <a:xfrm>
            <a:off x="2574965" y="6454875"/>
            <a:ext cx="7042068" cy="3027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完整流程：构建</a:t>
            </a:r>
            <a:r>
              <a:rPr lang="en-US" altLang="zh-CN" b="1" dirty="0"/>
              <a:t>-&gt;</a:t>
            </a:r>
            <a:r>
              <a:rPr lang="zh-CN" altLang="en-US" b="1" dirty="0"/>
              <a:t>评估</a:t>
            </a:r>
            <a:r>
              <a:rPr lang="en-US" altLang="zh-CN" b="1" dirty="0"/>
              <a:t>-&gt;</a:t>
            </a:r>
            <a:r>
              <a:rPr lang="zh-CN" altLang="en-US" b="1" dirty="0"/>
              <a:t>学习</a:t>
            </a:r>
            <a:r>
              <a:rPr lang="en-US" altLang="zh-CN" b="1" dirty="0"/>
              <a:t>-&gt;</a:t>
            </a:r>
            <a:r>
              <a:rPr lang="zh-CN" altLang="en-US" b="1" dirty="0"/>
              <a:t>演化</a:t>
            </a:r>
            <a:r>
              <a:rPr lang="en-US" altLang="zh-CN" b="1" dirty="0"/>
              <a:t>-&gt;</a:t>
            </a:r>
            <a:r>
              <a:rPr lang="zh-CN" altLang="en-US" b="1" dirty="0"/>
              <a:t>更新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7B58B45-5BEF-CCA0-6BCE-7823B0069B5B}"/>
              </a:ext>
            </a:extLst>
          </p:cNvPr>
          <p:cNvSpPr/>
          <p:nvPr/>
        </p:nvSpPr>
        <p:spPr>
          <a:xfrm>
            <a:off x="593346" y="1616181"/>
            <a:ext cx="2553615" cy="440347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DA5807F-C6E4-F782-8DB8-269890F811D4}"/>
              </a:ext>
            </a:extLst>
          </p:cNvPr>
          <p:cNvSpPr/>
          <p:nvPr/>
        </p:nvSpPr>
        <p:spPr>
          <a:xfrm>
            <a:off x="3390031" y="1616181"/>
            <a:ext cx="2553615" cy="4403479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8338456-9561-E9C0-3F12-30FEA70A8EA6}"/>
              </a:ext>
            </a:extLst>
          </p:cNvPr>
          <p:cNvSpPr/>
          <p:nvPr/>
        </p:nvSpPr>
        <p:spPr>
          <a:xfrm>
            <a:off x="6248356" y="1602262"/>
            <a:ext cx="2553615" cy="440347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AC54D87-439C-83A0-3C92-559180D8690F}"/>
              </a:ext>
            </a:extLst>
          </p:cNvPr>
          <p:cNvSpPr/>
          <p:nvPr/>
        </p:nvSpPr>
        <p:spPr>
          <a:xfrm>
            <a:off x="9106681" y="1599405"/>
            <a:ext cx="2553615" cy="440347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2D528DD-4855-3FD1-6BED-D44538480235}"/>
              </a:ext>
            </a:extLst>
          </p:cNvPr>
          <p:cNvSpPr/>
          <p:nvPr/>
        </p:nvSpPr>
        <p:spPr>
          <a:xfrm>
            <a:off x="754403" y="3351918"/>
            <a:ext cx="2278577" cy="3219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大规模社交关系图谱，以用户节点，交互行为为有向边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CD6718C-F8E7-9F65-CA47-E8A826AF1EEB}"/>
              </a:ext>
            </a:extLst>
          </p:cNvPr>
          <p:cNvSpPr/>
          <p:nvPr/>
        </p:nvSpPr>
        <p:spPr>
          <a:xfrm>
            <a:off x="1719942" y="4554241"/>
            <a:ext cx="1282535" cy="933773"/>
          </a:xfrm>
          <a:prstGeom prst="roundRect">
            <a:avLst>
              <a:gd name="adj" fmla="val 2287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b="1" dirty="0"/>
              <a:t>节点属性：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zh-CN" altLang="en-US" sz="900" b="1" dirty="0"/>
              <a:t>用户静态</a:t>
            </a:r>
            <a:r>
              <a:rPr lang="en-US" altLang="zh-CN" sz="900" b="1" dirty="0"/>
              <a:t>/</a:t>
            </a:r>
            <a:r>
              <a:rPr lang="zh-CN" altLang="en-US" sz="900" b="1" dirty="0"/>
              <a:t>动态特征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zh-CN" altLang="en-US" sz="900" b="1" dirty="0"/>
              <a:t>边类型：多模态交互（文本、行为）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B931029-37D3-368E-2FC4-EE835CC7CB8A}"/>
              </a:ext>
            </a:extLst>
          </p:cNvPr>
          <p:cNvSpPr/>
          <p:nvPr/>
        </p:nvSpPr>
        <p:spPr>
          <a:xfrm>
            <a:off x="2147454" y="3970592"/>
            <a:ext cx="855023" cy="3681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存储与管理：</a:t>
            </a:r>
            <a:endParaRPr lang="en-US" altLang="zh-CN" sz="900" b="1" dirty="0"/>
          </a:p>
          <a:p>
            <a:pPr algn="ctr"/>
            <a:r>
              <a:rPr lang="zh-CN" altLang="en-US" sz="900" b="1" dirty="0"/>
              <a:t>图数据库</a:t>
            </a:r>
            <a:endParaRPr lang="en-US" altLang="zh-CN" sz="900" b="1" dirty="0"/>
          </a:p>
          <a:p>
            <a:pPr algn="ctr"/>
            <a:r>
              <a:rPr lang="zh-CN" altLang="en-US" sz="900" b="1" dirty="0"/>
              <a:t>（如</a:t>
            </a:r>
            <a:r>
              <a:rPr lang="en-US" altLang="zh-CN" sz="900" b="1" dirty="0"/>
              <a:t>Neo4j</a:t>
            </a:r>
            <a:r>
              <a:rPr lang="zh-CN" altLang="en-US" sz="900" b="1" dirty="0"/>
              <a:t>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400FBD-9F6B-0C4F-C817-323729854515}"/>
              </a:ext>
            </a:extLst>
          </p:cNvPr>
          <p:cNvSpPr/>
          <p:nvPr/>
        </p:nvSpPr>
        <p:spPr>
          <a:xfrm>
            <a:off x="593346" y="3695764"/>
            <a:ext cx="2553615" cy="1602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形 28" descr="数据库">
            <a:extLst>
              <a:ext uri="{FF2B5EF4-FFF2-40B4-BE49-F238E27FC236}">
                <a16:creationId xmlns:a16="http://schemas.microsoft.com/office/drawing/2014/main" id="{1547030C-ACA6-5F64-B242-08A0B1A70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41" y="4477078"/>
            <a:ext cx="1088101" cy="1088101"/>
          </a:xfrm>
          <a:prstGeom prst="rect">
            <a:avLst/>
          </a:prstGeom>
        </p:spPr>
      </p:pic>
      <p:pic>
        <p:nvPicPr>
          <p:cNvPr id="33" name="图形 32" descr="正义天平">
            <a:extLst>
              <a:ext uri="{FF2B5EF4-FFF2-40B4-BE49-F238E27FC236}">
                <a16:creationId xmlns:a16="http://schemas.microsoft.com/office/drawing/2014/main" id="{E42F227E-13A7-82B9-7292-588F5ECAC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23616" y="1726167"/>
            <a:ext cx="886443" cy="886443"/>
          </a:xfrm>
          <a:prstGeom prst="rect">
            <a:avLst/>
          </a:prstGeom>
        </p:spPr>
      </p:pic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AD2794-DFD9-A8A3-361E-5CFA925C3D80}"/>
              </a:ext>
            </a:extLst>
          </p:cNvPr>
          <p:cNvSpPr/>
          <p:nvPr/>
        </p:nvSpPr>
        <p:spPr>
          <a:xfrm>
            <a:off x="4808220" y="5143500"/>
            <a:ext cx="998220" cy="632460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</a:rPr>
              <a:t>综合因素计算</a:t>
            </a:r>
            <a:endParaRPr lang="en-US" altLang="zh-CN" sz="900" b="1" dirty="0">
              <a:solidFill>
                <a:schemeClr val="tx1"/>
              </a:solidFill>
            </a:endParaRPr>
          </a:p>
          <a:p>
            <a:r>
              <a:rPr lang="zh-CN" altLang="en-US" sz="900" b="1" dirty="0">
                <a:solidFill>
                  <a:schemeClr val="tx1"/>
                </a:solidFill>
              </a:rPr>
              <a:t>动态权重</a:t>
            </a:r>
            <a:endParaRPr lang="en-US" altLang="zh-CN" sz="900" b="1" dirty="0">
              <a:solidFill>
                <a:schemeClr val="tx1"/>
              </a:solidFill>
            </a:endParaRPr>
          </a:p>
          <a:p>
            <a:r>
              <a:rPr lang="zh-CN" altLang="en-US" sz="900" b="1" dirty="0">
                <a:solidFill>
                  <a:schemeClr val="tx1"/>
                </a:solidFill>
              </a:rPr>
              <a:t>体现关系亲疏与影响强弱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313F934-A096-34A6-82BA-D37ADD2A0B17}"/>
              </a:ext>
            </a:extLst>
          </p:cNvPr>
          <p:cNvSpPr/>
          <p:nvPr/>
        </p:nvSpPr>
        <p:spPr>
          <a:xfrm>
            <a:off x="4787495" y="2605086"/>
            <a:ext cx="1127759" cy="436641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内容相似度</a:t>
            </a:r>
            <a:endParaRPr lang="en-US" altLang="zh-CN" sz="9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余弦相似度匹配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44FB4DF-8D5F-84D5-7F88-114A573D034E}"/>
              </a:ext>
            </a:extLst>
          </p:cNvPr>
          <p:cNvSpPr/>
          <p:nvPr/>
        </p:nvSpPr>
        <p:spPr>
          <a:xfrm>
            <a:off x="3547310" y="2920922"/>
            <a:ext cx="1127760" cy="37747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历史互动频率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（计数器图标）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8411452-64C7-723F-0C9B-238169B0A404}"/>
              </a:ext>
            </a:extLst>
          </p:cNvPr>
          <p:cNvSpPr/>
          <p:nvPr/>
        </p:nvSpPr>
        <p:spPr>
          <a:xfrm>
            <a:off x="3547310" y="3507027"/>
            <a:ext cx="1127760" cy="37747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内容相似度（余弦相似度公式）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CEEE8B5-D815-FBBD-52AB-C995F3222A19}"/>
              </a:ext>
            </a:extLst>
          </p:cNvPr>
          <p:cNvSpPr/>
          <p:nvPr/>
        </p:nvSpPr>
        <p:spPr>
          <a:xfrm>
            <a:off x="5045632" y="2810316"/>
            <a:ext cx="796264" cy="1314808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情感一致性（情感极性匹配，</a:t>
            </a:r>
            <a:r>
              <a:rPr lang="en-US" altLang="zh-CN" sz="1000" b="1" dirty="0">
                <a:solidFill>
                  <a:schemeClr val="tx1"/>
                </a:solidFill>
              </a:rPr>
              <a:t>VAD</a:t>
            </a:r>
            <a:r>
              <a:rPr lang="zh-CN" altLang="en-US" sz="1000" b="1" dirty="0">
                <a:solidFill>
                  <a:schemeClr val="tx1"/>
                </a:solidFill>
              </a:rPr>
              <a:t>模型图标）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7085A387-B2AB-E692-713E-B5F96E279A04}"/>
              </a:ext>
            </a:extLst>
          </p:cNvPr>
          <p:cNvSpPr/>
          <p:nvPr/>
        </p:nvSpPr>
        <p:spPr>
          <a:xfrm>
            <a:off x="4111190" y="4554241"/>
            <a:ext cx="1127760" cy="269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边上态权重</a:t>
            </a:r>
            <a:r>
              <a:rPr lang="en-US" altLang="zh-CN" sz="900" b="1" dirty="0"/>
              <a:t>w=0.8</a:t>
            </a:r>
            <a:endParaRPr lang="zh-CN" altLang="en-US" sz="900" b="1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4D8A89A-B551-DCF3-7BD5-EC52B6434288}"/>
              </a:ext>
            </a:extLst>
          </p:cNvPr>
          <p:cNvSpPr/>
          <p:nvPr/>
        </p:nvSpPr>
        <p:spPr>
          <a:xfrm>
            <a:off x="7330440" y="1726167"/>
            <a:ext cx="1314251" cy="632460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</a:rPr>
              <a:t>GAT</a:t>
            </a:r>
          </a:p>
          <a:p>
            <a:pPr algn="ctr"/>
            <a:r>
              <a:rPr lang="en-US" altLang="zh-CN" sz="1050" b="1" dirty="0">
                <a:solidFill>
                  <a:schemeClr val="bg1"/>
                </a:solidFill>
              </a:rPr>
              <a:t>(Graph Attention Network)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F6516FC-C93E-3BFB-14A2-340C0106EFD1}"/>
              </a:ext>
            </a:extLst>
          </p:cNvPr>
          <p:cNvSpPr/>
          <p:nvPr/>
        </p:nvSpPr>
        <p:spPr>
          <a:xfrm>
            <a:off x="6588925" y="2378045"/>
            <a:ext cx="55557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GAT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2684DA3-8E78-F8B9-E8EB-3C7177048041}"/>
              </a:ext>
            </a:extLst>
          </p:cNvPr>
          <p:cNvSpPr/>
          <p:nvPr/>
        </p:nvSpPr>
        <p:spPr>
          <a:xfrm>
            <a:off x="10546080" y="6208358"/>
            <a:ext cx="1516380" cy="618125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b="1" dirty="0"/>
              <a:t>       绿色：数据流</a:t>
            </a:r>
            <a:endParaRPr lang="en-US" altLang="zh-CN" sz="900" b="1" dirty="0"/>
          </a:p>
          <a:p>
            <a:r>
              <a:rPr lang="zh-CN" altLang="en-US" sz="900" b="1" dirty="0"/>
              <a:t>        </a:t>
            </a:r>
            <a:endParaRPr lang="en-US" altLang="zh-CN" sz="900" b="1" dirty="0"/>
          </a:p>
          <a:p>
            <a:r>
              <a:rPr lang="en-US" altLang="zh-CN" sz="900" b="1" dirty="0"/>
              <a:t>       </a:t>
            </a:r>
            <a:r>
              <a:rPr lang="zh-CN" altLang="en-US" sz="900" b="1" dirty="0"/>
              <a:t>橙色虚线：动态更新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F719EE0F-E247-CB5B-D81C-3243F7D66060}"/>
              </a:ext>
            </a:extLst>
          </p:cNvPr>
          <p:cNvSpPr/>
          <p:nvPr/>
        </p:nvSpPr>
        <p:spPr>
          <a:xfrm>
            <a:off x="7485065" y="3310089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bg1"/>
                </a:solidFill>
              </a:rPr>
              <a:t>GraphSAGE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FD9B6A5-F793-315E-58FD-029BE417346B}"/>
              </a:ext>
            </a:extLst>
          </p:cNvPr>
          <p:cNvSpPr/>
          <p:nvPr/>
        </p:nvSpPr>
        <p:spPr>
          <a:xfrm>
            <a:off x="6248356" y="5413243"/>
            <a:ext cx="1314251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融合自身属性</a:t>
            </a:r>
            <a:r>
              <a:rPr lang="en-US" altLang="zh-CN" sz="1200" b="1" dirty="0">
                <a:solidFill>
                  <a:schemeClr val="bg1"/>
                </a:solidFill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</a:rPr>
              <a:t>邻域结构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EFA46CE-7091-FCD3-4CE4-9CD4F6C351AB}"/>
              </a:ext>
            </a:extLst>
          </p:cNvPr>
          <p:cNvSpPr/>
          <p:nvPr/>
        </p:nvSpPr>
        <p:spPr>
          <a:xfrm>
            <a:off x="7468377" y="4658406"/>
            <a:ext cx="822667" cy="725442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mean/ LSTM/ pooling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6D2755D5-D3F4-95B7-1082-CE85B48F5A59}"/>
              </a:ext>
            </a:extLst>
          </p:cNvPr>
          <p:cNvSpPr/>
          <p:nvPr/>
        </p:nvSpPr>
        <p:spPr>
          <a:xfrm>
            <a:off x="6338877" y="3512757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低维向量</a:t>
            </a:r>
            <a:r>
              <a:rPr lang="en-US" altLang="zh-CN" sz="1000" b="1" dirty="0">
                <a:solidFill>
                  <a:schemeClr val="bg1"/>
                </a:solidFill>
              </a:rPr>
              <a:t>Embedding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59D0345-961D-11D7-9AAA-5714366A4801}"/>
              </a:ext>
            </a:extLst>
          </p:cNvPr>
          <p:cNvSpPr/>
          <p:nvPr/>
        </p:nvSpPr>
        <p:spPr>
          <a:xfrm>
            <a:off x="6314648" y="3856056"/>
            <a:ext cx="1104123" cy="621022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采样聚合</a:t>
            </a:r>
            <a:endParaRPr lang="en-US" altLang="zh-CN" sz="1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神经网络</a:t>
            </a:r>
            <a:endParaRPr lang="en-US" altLang="zh-CN" sz="1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领域节点</a:t>
            </a:r>
          </a:p>
        </p:txBody>
      </p:sp>
      <p:pic>
        <p:nvPicPr>
          <p:cNvPr id="56" name="图形 55" descr="时钟">
            <a:extLst>
              <a:ext uri="{FF2B5EF4-FFF2-40B4-BE49-F238E27FC236}">
                <a16:creationId xmlns:a16="http://schemas.microsoft.com/office/drawing/2014/main" id="{344AC4D9-87DE-0D5F-8E89-CE6EF595E1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2189" y="1812582"/>
            <a:ext cx="746523" cy="746523"/>
          </a:xfrm>
          <a:prstGeom prst="rect">
            <a:avLst/>
          </a:prstGeom>
        </p:spPr>
      </p:pic>
      <p:sp>
        <p:nvSpPr>
          <p:cNvPr id="57" name="箭头: 右 56">
            <a:extLst>
              <a:ext uri="{FF2B5EF4-FFF2-40B4-BE49-F238E27FC236}">
                <a16:creationId xmlns:a16="http://schemas.microsoft.com/office/drawing/2014/main" id="{D9B13392-E69A-8A91-2972-9C7402EB5F29}"/>
              </a:ext>
            </a:extLst>
          </p:cNvPr>
          <p:cNvSpPr/>
          <p:nvPr/>
        </p:nvSpPr>
        <p:spPr>
          <a:xfrm>
            <a:off x="10029168" y="1788194"/>
            <a:ext cx="319088" cy="21907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42669DC-DEF8-9961-30C4-AE6DE3DC94D2}"/>
              </a:ext>
            </a:extLst>
          </p:cNvPr>
          <p:cNvSpPr/>
          <p:nvPr/>
        </p:nvSpPr>
        <p:spPr>
          <a:xfrm>
            <a:off x="10432987" y="2378045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新互动数据</a:t>
            </a:r>
            <a:endParaRPr lang="en-US" altLang="zh-CN" sz="1000" b="1" dirty="0">
              <a:solidFill>
                <a:schemeClr val="bg1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F1705BF-CEF2-A9DB-0ED3-602B577E9F23}"/>
              </a:ext>
            </a:extLst>
          </p:cNvPr>
          <p:cNvSpPr/>
          <p:nvPr/>
        </p:nvSpPr>
        <p:spPr>
          <a:xfrm>
            <a:off x="9165792" y="5202462"/>
            <a:ext cx="1380288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模拟真实社交网络演化特性，非一成不变</a:t>
            </a:r>
          </a:p>
        </p:txBody>
      </p:sp>
      <p:pic>
        <p:nvPicPr>
          <p:cNvPr id="62" name="图形 61" descr="箭头圆形">
            <a:extLst>
              <a:ext uri="{FF2B5EF4-FFF2-40B4-BE49-F238E27FC236}">
                <a16:creationId xmlns:a16="http://schemas.microsoft.com/office/drawing/2014/main" id="{5AA79106-C042-B20A-D5BE-1CB30F6F20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5041" y="3323306"/>
            <a:ext cx="1577365" cy="1577365"/>
          </a:xfrm>
          <a:prstGeom prst="rect">
            <a:avLst/>
          </a:prstGeom>
        </p:spPr>
      </p:pic>
      <p:pic>
        <p:nvPicPr>
          <p:cNvPr id="64" name="图形 63" descr="云计算">
            <a:extLst>
              <a:ext uri="{FF2B5EF4-FFF2-40B4-BE49-F238E27FC236}">
                <a16:creationId xmlns:a16="http://schemas.microsoft.com/office/drawing/2014/main" id="{AB07D5F5-0F02-464D-6273-EFD22301DF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21257" y="1834989"/>
            <a:ext cx="599016" cy="599016"/>
          </a:xfrm>
          <a:prstGeom prst="rect">
            <a:avLst/>
          </a:prstGeom>
        </p:spPr>
      </p:pic>
      <p:grpSp>
        <p:nvGrpSpPr>
          <p:cNvPr id="66" name="Google Shape;89;p17">
            <a:extLst>
              <a:ext uri="{FF2B5EF4-FFF2-40B4-BE49-F238E27FC236}">
                <a16:creationId xmlns:a16="http://schemas.microsoft.com/office/drawing/2014/main" id="{7D97BF37-A2E6-AB99-01C6-5C3A9E2450AA}"/>
              </a:ext>
            </a:extLst>
          </p:cNvPr>
          <p:cNvGrpSpPr/>
          <p:nvPr/>
        </p:nvGrpSpPr>
        <p:grpSpPr>
          <a:xfrm>
            <a:off x="3738864" y="4053147"/>
            <a:ext cx="1192584" cy="269219"/>
            <a:chOff x="2854300" y="1168125"/>
            <a:chExt cx="2904000" cy="532800"/>
          </a:xfrm>
        </p:grpSpPr>
        <p:sp>
          <p:nvSpPr>
            <p:cNvPr id="67" name="Google Shape;90;p17">
              <a:extLst>
                <a:ext uri="{FF2B5EF4-FFF2-40B4-BE49-F238E27FC236}">
                  <a16:creationId xmlns:a16="http://schemas.microsoft.com/office/drawing/2014/main" id="{B1DC5858-7016-662C-C13F-851F3D33926B}"/>
                </a:ext>
              </a:extLst>
            </p:cNvPr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1;p17">
              <a:extLst>
                <a:ext uri="{FF2B5EF4-FFF2-40B4-BE49-F238E27FC236}">
                  <a16:creationId xmlns:a16="http://schemas.microsoft.com/office/drawing/2014/main" id="{141E4C75-6962-9B4A-8753-4E81416FD5A1}"/>
                </a:ext>
              </a:extLst>
            </p:cNvPr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;p17">
              <a:extLst>
                <a:ext uri="{FF2B5EF4-FFF2-40B4-BE49-F238E27FC236}">
                  <a16:creationId xmlns:a16="http://schemas.microsoft.com/office/drawing/2014/main" id="{30AC9BB9-4010-4139-2A3A-694E2B33B00D}"/>
                </a:ext>
              </a:extLst>
            </p:cNvPr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3;p17">
              <a:extLst>
                <a:ext uri="{FF2B5EF4-FFF2-40B4-BE49-F238E27FC236}">
                  <a16:creationId xmlns:a16="http://schemas.microsoft.com/office/drawing/2014/main" id="{888AE00E-5D8C-731D-6D7B-3C218E45520E}"/>
                </a:ext>
              </a:extLst>
            </p:cNvPr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4;p17">
              <a:extLst>
                <a:ext uri="{FF2B5EF4-FFF2-40B4-BE49-F238E27FC236}">
                  <a16:creationId xmlns:a16="http://schemas.microsoft.com/office/drawing/2014/main" id="{048F8753-B2C3-58B3-A9A8-394E89833B1B}"/>
                </a:ext>
              </a:extLst>
            </p:cNvPr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箭头: 下 71">
            <a:extLst>
              <a:ext uri="{FF2B5EF4-FFF2-40B4-BE49-F238E27FC236}">
                <a16:creationId xmlns:a16="http://schemas.microsoft.com/office/drawing/2014/main" id="{7D534154-C2BD-E96A-0D77-BCBF2C0EB8D5}"/>
              </a:ext>
            </a:extLst>
          </p:cNvPr>
          <p:cNvSpPr/>
          <p:nvPr/>
        </p:nvSpPr>
        <p:spPr>
          <a:xfrm>
            <a:off x="1755631" y="3741924"/>
            <a:ext cx="211008" cy="321909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上下 72">
            <a:extLst>
              <a:ext uri="{FF2B5EF4-FFF2-40B4-BE49-F238E27FC236}">
                <a16:creationId xmlns:a16="http://schemas.microsoft.com/office/drawing/2014/main" id="{087C80CB-C6BB-D68D-6DF1-6B36D02B6E06}"/>
              </a:ext>
            </a:extLst>
          </p:cNvPr>
          <p:cNvSpPr/>
          <p:nvPr/>
        </p:nvSpPr>
        <p:spPr>
          <a:xfrm>
            <a:off x="4413244" y="4865799"/>
            <a:ext cx="303811" cy="1357143"/>
          </a:xfrm>
          <a:prstGeom prst="up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形 74" descr="原子">
            <a:extLst>
              <a:ext uri="{FF2B5EF4-FFF2-40B4-BE49-F238E27FC236}">
                <a16:creationId xmlns:a16="http://schemas.microsoft.com/office/drawing/2014/main" id="{57C3B9CC-20B3-E705-1039-8CBC873B6D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41896" y="395536"/>
            <a:ext cx="508208" cy="508208"/>
          </a:xfrm>
          <a:prstGeom prst="rect">
            <a:avLst/>
          </a:prstGeom>
        </p:spPr>
      </p:pic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ADEB1848-C97A-2306-D6FE-D23685A94EFA}"/>
              </a:ext>
            </a:extLst>
          </p:cNvPr>
          <p:cNvCxnSpPr>
            <a:endCxn id="5" idx="0"/>
          </p:cNvCxnSpPr>
          <p:nvPr/>
        </p:nvCxnSpPr>
        <p:spPr>
          <a:xfrm rot="10800000" flipV="1">
            <a:off x="1893696" y="646666"/>
            <a:ext cx="3912747" cy="158116"/>
          </a:xfrm>
          <a:prstGeom prst="bentConnector2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AFE4135A-E874-6BB6-01EE-CE4429B36576}"/>
              </a:ext>
            </a:extLst>
          </p:cNvPr>
          <p:cNvCxnSpPr>
            <a:stCxn id="75" idx="1"/>
            <a:endCxn id="6" idx="0"/>
          </p:cNvCxnSpPr>
          <p:nvPr/>
        </p:nvCxnSpPr>
        <p:spPr>
          <a:xfrm rot="10800000" flipV="1">
            <a:off x="4666840" y="649640"/>
            <a:ext cx="1175056" cy="188700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85615181-6F86-CA4A-977C-70B93F30CC7E}"/>
              </a:ext>
            </a:extLst>
          </p:cNvPr>
          <p:cNvCxnSpPr>
            <a:cxnSpLocks/>
            <a:stCxn id="75" idx="3"/>
            <a:endCxn id="8" idx="0"/>
          </p:cNvCxnSpPr>
          <p:nvPr/>
        </p:nvCxnSpPr>
        <p:spPr>
          <a:xfrm>
            <a:off x="6350104" y="649640"/>
            <a:ext cx="3919811" cy="188699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FD97F0FD-2711-05CF-E751-08AE7F0F48D0}"/>
              </a:ext>
            </a:extLst>
          </p:cNvPr>
          <p:cNvCxnSpPr>
            <a:endCxn id="7" idx="0"/>
          </p:cNvCxnSpPr>
          <p:nvPr/>
        </p:nvCxnSpPr>
        <p:spPr>
          <a:xfrm>
            <a:off x="6350104" y="646665"/>
            <a:ext cx="1118274" cy="194531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B3AAC3C7-941B-ABA5-4734-A59E206F3326}"/>
              </a:ext>
            </a:extLst>
          </p:cNvPr>
          <p:cNvCxnSpPr>
            <a:stCxn id="16" idx="2"/>
            <a:endCxn id="20" idx="2"/>
          </p:cNvCxnSpPr>
          <p:nvPr/>
        </p:nvCxnSpPr>
        <p:spPr>
          <a:xfrm rot="5400000" flipH="1" flipV="1">
            <a:off x="6118433" y="1754604"/>
            <a:ext cx="16776" cy="8513335"/>
          </a:xfrm>
          <a:prstGeom prst="bentConnector3">
            <a:avLst>
              <a:gd name="adj1" fmla="val -1362661"/>
            </a:avLst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62ED1E8-39DE-B752-3415-4C1DCF9F64D0}"/>
              </a:ext>
            </a:extLst>
          </p:cNvPr>
          <p:cNvGrpSpPr/>
          <p:nvPr/>
        </p:nvGrpSpPr>
        <p:grpSpPr>
          <a:xfrm>
            <a:off x="1248061" y="1941642"/>
            <a:ext cx="1182545" cy="1140035"/>
            <a:chOff x="3632900" y="1421550"/>
            <a:chExt cx="3730702" cy="3631501"/>
          </a:xfrm>
        </p:grpSpPr>
        <p:sp>
          <p:nvSpPr>
            <p:cNvPr id="94" name="矩形: 圆角 497">
              <a:extLst>
                <a:ext uri="{FF2B5EF4-FFF2-40B4-BE49-F238E27FC236}">
                  <a16:creationId xmlns:a16="http://schemas.microsoft.com/office/drawing/2014/main" id="{021512BC-F3B8-707A-BCC8-9E3542D62E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76201" y="2264550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: 圆角 497">
              <a:extLst>
                <a:ext uri="{FF2B5EF4-FFF2-40B4-BE49-F238E27FC236}">
                  <a16:creationId xmlns:a16="http://schemas.microsoft.com/office/drawing/2014/main" id="{9EA63EEA-D586-3E9A-5732-AC00651BD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29200" y="1421550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矩形: 圆角 497">
              <a:extLst>
                <a:ext uri="{FF2B5EF4-FFF2-40B4-BE49-F238E27FC236}">
                  <a16:creationId xmlns:a16="http://schemas.microsoft.com/office/drawing/2014/main" id="{3EDAB8DB-A089-5803-EF87-881EB4E2B4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88200" y="4286251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矩形: 圆角 497">
              <a:extLst>
                <a:ext uri="{FF2B5EF4-FFF2-40B4-BE49-F238E27FC236}">
                  <a16:creationId xmlns:a16="http://schemas.microsoft.com/office/drawing/2014/main" id="{8262E8AF-AD50-A79F-9128-5EDE98B844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32900" y="3523402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矩形: 圆角 497">
              <a:extLst>
                <a:ext uri="{FF2B5EF4-FFF2-40B4-BE49-F238E27FC236}">
                  <a16:creationId xmlns:a16="http://schemas.microsoft.com/office/drawing/2014/main" id="{6F6637C3-DFDC-E569-D719-769DC9308C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7002" y="3721950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矩形: 圆角 497">
              <a:extLst>
                <a:ext uri="{FF2B5EF4-FFF2-40B4-BE49-F238E27FC236}">
                  <a16:creationId xmlns:a16="http://schemas.microsoft.com/office/drawing/2014/main" id="{6EA0A8AE-340D-EFB9-7B31-B9BC1D065E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96802" y="2156600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矩形: 圆角 497">
              <a:extLst>
                <a:ext uri="{FF2B5EF4-FFF2-40B4-BE49-F238E27FC236}">
                  <a16:creationId xmlns:a16="http://schemas.microsoft.com/office/drawing/2014/main" id="{9F632480-E19B-2522-4182-881A80E0FA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4801" y="2993250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83A9B399-6572-695D-0DEF-C731392184E3}"/>
                </a:ext>
              </a:extLst>
            </p:cNvPr>
            <p:cNvCxnSpPr>
              <a:stCxn id="96" idx="3"/>
            </p:cNvCxnSpPr>
            <p:nvPr/>
          </p:nvCxnSpPr>
          <p:spPr>
            <a:xfrm flipV="1">
              <a:off x="5755000" y="2806700"/>
              <a:ext cx="950600" cy="186295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D1D4ADA1-1260-1378-FC9D-526F676EE98D}"/>
                </a:ext>
              </a:extLst>
            </p:cNvPr>
            <p:cNvCxnSpPr>
              <a:stCxn id="96" idx="3"/>
              <a:endCxn id="98" idx="2"/>
            </p:cNvCxnSpPr>
            <p:nvPr/>
          </p:nvCxnSpPr>
          <p:spPr>
            <a:xfrm flipV="1">
              <a:off x="5755000" y="4488750"/>
              <a:ext cx="1065402" cy="1809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90CADF5E-5A3E-64FC-17A8-AF6B729BCCAE}"/>
                </a:ext>
              </a:extLst>
            </p:cNvPr>
            <p:cNvCxnSpPr>
              <a:stCxn id="94" idx="3"/>
            </p:cNvCxnSpPr>
            <p:nvPr/>
          </p:nvCxnSpPr>
          <p:spPr>
            <a:xfrm>
              <a:off x="4843001" y="2647950"/>
              <a:ext cx="500800" cy="5016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35C6F650-88C5-F1B6-7F35-F0869928AFAF}"/>
                </a:ext>
              </a:extLst>
            </p:cNvPr>
            <p:cNvCxnSpPr>
              <a:stCxn id="97" idx="3"/>
              <a:endCxn id="96" idx="1"/>
            </p:cNvCxnSpPr>
            <p:nvPr/>
          </p:nvCxnSpPr>
          <p:spPr>
            <a:xfrm>
              <a:off x="4399700" y="3906802"/>
              <a:ext cx="588500" cy="7628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B9A56834-1DF5-BA9B-D1C3-67BB97859C9C}"/>
                </a:ext>
              </a:extLst>
            </p:cNvPr>
            <p:cNvCxnSpPr>
              <a:stCxn id="96" idx="0"/>
            </p:cNvCxnSpPr>
            <p:nvPr/>
          </p:nvCxnSpPr>
          <p:spPr>
            <a:xfrm flipH="1" flipV="1">
              <a:off x="4693950" y="2949575"/>
              <a:ext cx="677650" cy="13366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E361DF08-CC53-8033-BF19-C9C87D87348A}"/>
                </a:ext>
              </a:extLst>
            </p:cNvPr>
            <p:cNvCxnSpPr>
              <a:stCxn id="97" idx="0"/>
            </p:cNvCxnSpPr>
            <p:nvPr/>
          </p:nvCxnSpPr>
          <p:spPr>
            <a:xfrm flipV="1">
              <a:off x="4016300" y="2993250"/>
              <a:ext cx="187400" cy="53015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314B892-A007-3A06-29D0-D147830CAA9F}"/>
                </a:ext>
              </a:extLst>
            </p:cNvPr>
            <p:cNvCxnSpPr>
              <a:stCxn id="94" idx="0"/>
              <a:endCxn id="95" idx="1"/>
            </p:cNvCxnSpPr>
            <p:nvPr/>
          </p:nvCxnSpPr>
          <p:spPr>
            <a:xfrm flipV="1">
              <a:off x="4459601" y="1804950"/>
              <a:ext cx="869599" cy="4596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27D74BFB-16DE-1F90-EF3E-44092F7585C7}"/>
                </a:ext>
              </a:extLst>
            </p:cNvPr>
            <p:cNvCxnSpPr>
              <a:stCxn id="95" idx="3"/>
              <a:endCxn id="99" idx="1"/>
            </p:cNvCxnSpPr>
            <p:nvPr/>
          </p:nvCxnSpPr>
          <p:spPr>
            <a:xfrm>
              <a:off x="6096000" y="1804950"/>
              <a:ext cx="500802" cy="7350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6DBBE67-C006-57C8-CA51-1B8074063B1B}"/>
                </a:ext>
              </a:extLst>
            </p:cNvPr>
            <p:cNvCxnSpPr>
              <a:stCxn id="99" idx="2"/>
              <a:endCxn id="98" idx="0"/>
            </p:cNvCxnSpPr>
            <p:nvPr/>
          </p:nvCxnSpPr>
          <p:spPr>
            <a:xfrm flipH="1">
              <a:off x="6820402" y="2923400"/>
              <a:ext cx="159800" cy="7985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939293A5-A453-F458-C4E8-1A7F2C9F35DE}"/>
                </a:ext>
              </a:extLst>
            </p:cNvPr>
            <p:cNvCxnSpPr>
              <a:endCxn id="100" idx="1"/>
            </p:cNvCxnSpPr>
            <p:nvPr/>
          </p:nvCxnSpPr>
          <p:spPr>
            <a:xfrm flipV="1">
              <a:off x="4399700" y="3376650"/>
              <a:ext cx="875101" cy="3453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9AC8F823-BEBA-2014-07FF-07758AD0C8B9}"/>
                </a:ext>
              </a:extLst>
            </p:cNvPr>
            <p:cNvCxnSpPr>
              <a:stCxn id="98" idx="1"/>
              <a:endCxn id="100" idx="3"/>
            </p:cNvCxnSpPr>
            <p:nvPr/>
          </p:nvCxnSpPr>
          <p:spPr>
            <a:xfrm flipH="1" flipV="1">
              <a:off x="6041601" y="3376650"/>
              <a:ext cx="395401" cy="7287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656B947-A1E3-7F3F-1CE6-1214F7925AEE}"/>
              </a:ext>
            </a:extLst>
          </p:cNvPr>
          <p:cNvSpPr/>
          <p:nvPr/>
        </p:nvSpPr>
        <p:spPr>
          <a:xfrm>
            <a:off x="1449396" y="1672546"/>
            <a:ext cx="881275" cy="25654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用户</a:t>
            </a:r>
            <a:r>
              <a:rPr lang="en-US" altLang="zh-CN" sz="900" b="1" dirty="0">
                <a:solidFill>
                  <a:schemeClr val="tx1"/>
                </a:solidFill>
              </a:rPr>
              <a:t>ID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8BB6BAA3-9171-A1D6-CE02-4FA9B6DA611A}"/>
              </a:ext>
            </a:extLst>
          </p:cNvPr>
          <p:cNvSpPr/>
          <p:nvPr/>
        </p:nvSpPr>
        <p:spPr>
          <a:xfrm>
            <a:off x="2229615" y="2156574"/>
            <a:ext cx="881275" cy="25654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转发</a:t>
            </a: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7B44CD02-B530-A437-6554-0E666D2248D5}"/>
              </a:ext>
            </a:extLst>
          </p:cNvPr>
          <p:cNvSpPr/>
          <p:nvPr/>
        </p:nvSpPr>
        <p:spPr>
          <a:xfrm>
            <a:off x="1327867" y="3070662"/>
            <a:ext cx="881275" cy="25654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评论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0136612B-77CE-2471-689C-6A495D228106}"/>
              </a:ext>
            </a:extLst>
          </p:cNvPr>
          <p:cNvSpPr/>
          <p:nvPr/>
        </p:nvSpPr>
        <p:spPr>
          <a:xfrm>
            <a:off x="557508" y="2129043"/>
            <a:ext cx="881275" cy="256543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</a:rPr>
              <a:t>关注</a:t>
            </a: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AC3C70C-97F9-C7C5-ED9A-D4FA9E0567E8}"/>
              </a:ext>
            </a:extLst>
          </p:cNvPr>
          <p:cNvCxnSpPr/>
          <p:nvPr/>
        </p:nvCxnSpPr>
        <p:spPr>
          <a:xfrm flipV="1">
            <a:off x="9833723" y="2484128"/>
            <a:ext cx="0" cy="1132899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箭头: 右 118">
            <a:extLst>
              <a:ext uri="{FF2B5EF4-FFF2-40B4-BE49-F238E27FC236}">
                <a16:creationId xmlns:a16="http://schemas.microsoft.com/office/drawing/2014/main" id="{0F4A6DA6-AABD-8385-5DBF-391EC27E5A6E}"/>
              </a:ext>
            </a:extLst>
          </p:cNvPr>
          <p:cNvSpPr/>
          <p:nvPr/>
        </p:nvSpPr>
        <p:spPr>
          <a:xfrm>
            <a:off x="10549134" y="6345159"/>
            <a:ext cx="324157" cy="80968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箭头: 右 119">
            <a:extLst>
              <a:ext uri="{FF2B5EF4-FFF2-40B4-BE49-F238E27FC236}">
                <a16:creationId xmlns:a16="http://schemas.microsoft.com/office/drawing/2014/main" id="{5C43CE2C-570F-E463-F6C1-4D671C2DA4ED}"/>
              </a:ext>
            </a:extLst>
          </p:cNvPr>
          <p:cNvSpPr/>
          <p:nvPr/>
        </p:nvSpPr>
        <p:spPr>
          <a:xfrm>
            <a:off x="10549134" y="6606255"/>
            <a:ext cx="324157" cy="80968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  <a:prstDash val="sysDot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4FE37D1D-F704-8853-9EFF-98DF2674024D}"/>
              </a:ext>
            </a:extLst>
          </p:cNvPr>
          <p:cNvCxnSpPr/>
          <p:nvPr/>
        </p:nvCxnSpPr>
        <p:spPr>
          <a:xfrm>
            <a:off x="3146961" y="3970592"/>
            <a:ext cx="24307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C0C75D03-EFF2-E294-FC1A-85929398F0DB}"/>
              </a:ext>
            </a:extLst>
          </p:cNvPr>
          <p:cNvCxnSpPr>
            <a:endCxn id="60" idx="0"/>
          </p:cNvCxnSpPr>
          <p:nvPr/>
        </p:nvCxnSpPr>
        <p:spPr>
          <a:xfrm>
            <a:off x="9855936" y="4554241"/>
            <a:ext cx="0" cy="64822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93B5531F-0A55-C203-9D08-524B5FA2B107}"/>
              </a:ext>
            </a:extLst>
          </p:cNvPr>
          <p:cNvCxnSpPr/>
          <p:nvPr/>
        </p:nvCxnSpPr>
        <p:spPr>
          <a:xfrm>
            <a:off x="3547310" y="2206285"/>
            <a:ext cx="67630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474BE146-2F0E-3044-767A-01B71759B527}"/>
              </a:ext>
            </a:extLst>
          </p:cNvPr>
          <p:cNvCxnSpPr>
            <a:stCxn id="42" idx="1"/>
          </p:cNvCxnSpPr>
          <p:nvPr/>
        </p:nvCxnSpPr>
        <p:spPr>
          <a:xfrm rot="10800000">
            <a:off x="3547310" y="2206285"/>
            <a:ext cx="563880" cy="2482566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ADA490F-244C-D319-FE94-B2A356D8F31B}"/>
              </a:ext>
            </a:extLst>
          </p:cNvPr>
          <p:cNvCxnSpPr>
            <a:endCxn id="37" idx="0"/>
          </p:cNvCxnSpPr>
          <p:nvPr/>
        </p:nvCxnSpPr>
        <p:spPr>
          <a:xfrm>
            <a:off x="4111190" y="2484128"/>
            <a:ext cx="0" cy="43679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D6A2BDE1-368F-BCBF-505A-D80027415044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4111190" y="3298395"/>
            <a:ext cx="0" cy="20863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7D362BE-D82F-F078-68FB-7E1CBAAB49C3}"/>
              </a:ext>
            </a:extLst>
          </p:cNvPr>
          <p:cNvCxnSpPr>
            <a:stCxn id="38" idx="3"/>
          </p:cNvCxnSpPr>
          <p:nvPr/>
        </p:nvCxnSpPr>
        <p:spPr>
          <a:xfrm flipV="1">
            <a:off x="4675070" y="3695763"/>
            <a:ext cx="434989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412E7D1F-B956-0039-71B4-D1240C56CEAE}"/>
              </a:ext>
            </a:extLst>
          </p:cNvPr>
          <p:cNvCxnSpPr>
            <a:cxnSpLocks/>
          </p:cNvCxnSpPr>
          <p:nvPr/>
        </p:nvCxnSpPr>
        <p:spPr>
          <a:xfrm>
            <a:off x="5938718" y="3970592"/>
            <a:ext cx="3199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409688BE-F926-50F6-8BB3-B6C65B0D3910}"/>
              </a:ext>
            </a:extLst>
          </p:cNvPr>
          <p:cNvCxnSpPr>
            <a:cxnSpLocks/>
          </p:cNvCxnSpPr>
          <p:nvPr/>
        </p:nvCxnSpPr>
        <p:spPr>
          <a:xfrm>
            <a:off x="5060950" y="2206285"/>
            <a:ext cx="31988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9AD59299-1A66-1274-511B-52BC924AB3DB}"/>
              </a:ext>
            </a:extLst>
          </p:cNvPr>
          <p:cNvCxnSpPr>
            <a:cxnSpLocks/>
          </p:cNvCxnSpPr>
          <p:nvPr/>
        </p:nvCxnSpPr>
        <p:spPr>
          <a:xfrm>
            <a:off x="5367193" y="2206284"/>
            <a:ext cx="532" cy="39880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2BA65A64-3F17-93D9-E249-C379CD4B8267}"/>
              </a:ext>
            </a:extLst>
          </p:cNvPr>
          <p:cNvCxnSpPr>
            <a:cxnSpLocks/>
          </p:cNvCxnSpPr>
          <p:nvPr/>
        </p:nvCxnSpPr>
        <p:spPr>
          <a:xfrm rot="5400000">
            <a:off x="4916903" y="4235131"/>
            <a:ext cx="785973" cy="141880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DB373321-D4DB-7574-A631-B17456455BAC}"/>
              </a:ext>
            </a:extLst>
          </p:cNvPr>
          <p:cNvCxnSpPr>
            <a:cxnSpLocks/>
          </p:cNvCxnSpPr>
          <p:nvPr/>
        </p:nvCxnSpPr>
        <p:spPr>
          <a:xfrm flipH="1">
            <a:off x="6258675" y="469512"/>
            <a:ext cx="5544705" cy="334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09D801CC-47A6-917E-3CCE-B57D45E98E4C}"/>
              </a:ext>
            </a:extLst>
          </p:cNvPr>
          <p:cNvCxnSpPr>
            <a:cxnSpLocks/>
          </p:cNvCxnSpPr>
          <p:nvPr/>
        </p:nvCxnSpPr>
        <p:spPr>
          <a:xfrm>
            <a:off x="11803380" y="469512"/>
            <a:ext cx="55973" cy="56484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8FAC24F5-113D-87F4-7273-FF77F8F9A8FB}"/>
              </a:ext>
            </a:extLst>
          </p:cNvPr>
          <p:cNvCxnSpPr>
            <a:cxnSpLocks/>
          </p:cNvCxnSpPr>
          <p:nvPr/>
        </p:nvCxnSpPr>
        <p:spPr>
          <a:xfrm>
            <a:off x="388620" y="484912"/>
            <a:ext cx="5550098" cy="1800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C1E4774A-10E4-F69F-DEE3-7C4BB80CFF91}"/>
              </a:ext>
            </a:extLst>
          </p:cNvPr>
          <p:cNvCxnSpPr/>
          <p:nvPr/>
        </p:nvCxnSpPr>
        <p:spPr>
          <a:xfrm>
            <a:off x="388620" y="486216"/>
            <a:ext cx="0" cy="5631704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9C56D28-1EF2-CD7E-951A-E1239F3E1F51}"/>
              </a:ext>
            </a:extLst>
          </p:cNvPr>
          <p:cNvCxnSpPr>
            <a:cxnSpLocks/>
          </p:cNvCxnSpPr>
          <p:nvPr/>
        </p:nvCxnSpPr>
        <p:spPr>
          <a:xfrm>
            <a:off x="388620" y="6117920"/>
            <a:ext cx="11470733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BB546544-4DDD-24EB-5A3E-406CF7E510EC}"/>
              </a:ext>
            </a:extLst>
          </p:cNvPr>
          <p:cNvCxnSpPr/>
          <p:nvPr/>
        </p:nvCxnSpPr>
        <p:spPr>
          <a:xfrm>
            <a:off x="1175891" y="2257314"/>
            <a:ext cx="1519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F2B879EA-AFDA-7366-5A4F-122D2E98552F}"/>
              </a:ext>
            </a:extLst>
          </p:cNvPr>
          <p:cNvCxnSpPr/>
          <p:nvPr/>
        </p:nvCxnSpPr>
        <p:spPr>
          <a:xfrm>
            <a:off x="1890033" y="3198933"/>
            <a:ext cx="1749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7198FA60-C7F0-78BC-D81B-5037CAF5FD35}"/>
              </a:ext>
            </a:extLst>
          </p:cNvPr>
          <p:cNvCxnSpPr/>
          <p:nvPr/>
        </p:nvCxnSpPr>
        <p:spPr>
          <a:xfrm>
            <a:off x="2827020" y="2284845"/>
            <a:ext cx="1754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3FD423CE-8E96-8E97-C731-C7C2A21C8C27}"/>
              </a:ext>
            </a:extLst>
          </p:cNvPr>
          <p:cNvCxnSpPr/>
          <p:nvPr/>
        </p:nvCxnSpPr>
        <p:spPr>
          <a:xfrm>
            <a:off x="2147454" y="2007269"/>
            <a:ext cx="33666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3B20A3E-71F5-F440-DBBC-14EF7D3E8B20}"/>
              </a:ext>
            </a:extLst>
          </p:cNvPr>
          <p:cNvSpPr/>
          <p:nvPr/>
        </p:nvSpPr>
        <p:spPr>
          <a:xfrm>
            <a:off x="9142540" y="2658798"/>
            <a:ext cx="1632140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</a:rPr>
              <a:t>GNN</a:t>
            </a:r>
            <a:r>
              <a:rPr lang="zh-CN" altLang="en-US" sz="900" b="1" dirty="0">
                <a:solidFill>
                  <a:schemeClr val="bg1"/>
                </a:solidFill>
              </a:rPr>
              <a:t>学习生成低维向量表示，用于下游任务（如靶点分析</a:t>
            </a:r>
            <a:r>
              <a:rPr lang="zh-CN" altLang="en-US" sz="1000" b="1" dirty="0">
                <a:solidFill>
                  <a:schemeClr val="bg1"/>
                </a:solidFill>
              </a:rPr>
              <a:t>）</a:t>
            </a: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F6321FB8-5F14-4615-D93E-7BA9609397C6}"/>
              </a:ext>
            </a:extLst>
          </p:cNvPr>
          <p:cNvGrpSpPr/>
          <p:nvPr/>
        </p:nvGrpSpPr>
        <p:grpSpPr>
          <a:xfrm>
            <a:off x="9570418" y="3766198"/>
            <a:ext cx="635664" cy="704651"/>
            <a:chOff x="5148674" y="1497788"/>
            <a:chExt cx="4519003" cy="4025748"/>
          </a:xfrm>
        </p:grpSpPr>
        <p:sp>
          <p:nvSpPr>
            <p:cNvPr id="229" name="矩形: 圆角 497">
              <a:extLst>
                <a:ext uri="{FF2B5EF4-FFF2-40B4-BE49-F238E27FC236}">
                  <a16:creationId xmlns:a16="http://schemas.microsoft.com/office/drawing/2014/main" id="{CDAD6CED-E2B3-F7EE-69C8-D80DB6CF33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15474" y="1952144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0" name="矩形: 圆角 497">
              <a:extLst>
                <a:ext uri="{FF2B5EF4-FFF2-40B4-BE49-F238E27FC236}">
                  <a16:creationId xmlns:a16="http://schemas.microsoft.com/office/drawing/2014/main" id="{5BDA7288-C816-DF26-CD79-0A17FBF183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48674" y="2917362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1" name="矩形: 圆角 497">
              <a:extLst>
                <a:ext uri="{FF2B5EF4-FFF2-40B4-BE49-F238E27FC236}">
                  <a16:creationId xmlns:a16="http://schemas.microsoft.com/office/drawing/2014/main" id="{95DCCFED-B063-D2B5-2F99-A1CF50A7D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9891" y="4479389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2" name="矩形: 圆角 497">
              <a:extLst>
                <a:ext uri="{FF2B5EF4-FFF2-40B4-BE49-F238E27FC236}">
                  <a16:creationId xmlns:a16="http://schemas.microsoft.com/office/drawing/2014/main" id="{E7AA9A45-EEB8-4D23-6B77-570F53AA3E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49363" y="4756736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3" name="矩形: 圆角 497">
              <a:extLst>
                <a:ext uri="{FF2B5EF4-FFF2-40B4-BE49-F238E27FC236}">
                  <a16:creationId xmlns:a16="http://schemas.microsoft.com/office/drawing/2014/main" id="{1497561C-6D39-0B30-F2E1-20A0194138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1407" y="2453298"/>
              <a:ext cx="766800" cy="766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4" name="矩形: 圆角 497">
              <a:extLst>
                <a:ext uri="{FF2B5EF4-FFF2-40B4-BE49-F238E27FC236}">
                  <a16:creationId xmlns:a16="http://schemas.microsoft.com/office/drawing/2014/main" id="{68C72DA9-40B6-1C6B-3B7F-F9307846FD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46019" y="2332645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5" name="矩形: 圆角 497">
              <a:extLst>
                <a:ext uri="{FF2B5EF4-FFF2-40B4-BE49-F238E27FC236}">
                  <a16:creationId xmlns:a16="http://schemas.microsoft.com/office/drawing/2014/main" id="{3BED1EB3-2364-F5AC-51F0-03DB717CDF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9891" y="3261132"/>
              <a:ext cx="766800" cy="766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6" name="矩形: 圆角 497">
              <a:extLst>
                <a:ext uri="{FF2B5EF4-FFF2-40B4-BE49-F238E27FC236}">
                  <a16:creationId xmlns:a16="http://schemas.microsoft.com/office/drawing/2014/main" id="{D7C22E20-4CC5-69B1-8CD0-3905892C9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08710" y="3846398"/>
              <a:ext cx="766800" cy="766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7" name="矩形: 圆角 497">
              <a:extLst>
                <a:ext uri="{FF2B5EF4-FFF2-40B4-BE49-F238E27FC236}">
                  <a16:creationId xmlns:a16="http://schemas.microsoft.com/office/drawing/2014/main" id="{75C18326-0184-0ECB-E34E-E3FE4D448B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65963" y="3869956"/>
              <a:ext cx="766800" cy="766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8" name="矩形: 圆角 497">
              <a:extLst>
                <a:ext uri="{FF2B5EF4-FFF2-40B4-BE49-F238E27FC236}">
                  <a16:creationId xmlns:a16="http://schemas.microsoft.com/office/drawing/2014/main" id="{340CCED8-7B9F-4125-5893-27F8E36600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65963" y="1497788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9" name="矩形: 圆角 497">
              <a:extLst>
                <a:ext uri="{FF2B5EF4-FFF2-40B4-BE49-F238E27FC236}">
                  <a16:creationId xmlns:a16="http://schemas.microsoft.com/office/drawing/2014/main" id="{9EB42DE5-EE3C-109A-27CC-36955BDB4E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00877" y="3495878"/>
              <a:ext cx="766800" cy="766800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8000" tIns="108000" rIns="108000" bIns="108000"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40" name="连接符: 曲线 239">
              <a:extLst>
                <a:ext uri="{FF2B5EF4-FFF2-40B4-BE49-F238E27FC236}">
                  <a16:creationId xmlns:a16="http://schemas.microsoft.com/office/drawing/2014/main" id="{0AB6B882-788F-2836-F31E-8C603C4DAF37}"/>
                </a:ext>
              </a:extLst>
            </p:cNvPr>
            <p:cNvCxnSpPr>
              <a:stCxn id="238" idx="3"/>
              <a:endCxn id="233" idx="3"/>
            </p:cNvCxnSpPr>
            <p:nvPr/>
          </p:nvCxnSpPr>
          <p:spPr>
            <a:xfrm>
              <a:off x="8132763" y="1881188"/>
              <a:ext cx="555444" cy="955510"/>
            </a:xfrm>
            <a:prstGeom prst="curvedConnector3">
              <a:avLst>
                <a:gd name="adj1" fmla="val 141156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连接符: 曲线 240">
              <a:extLst>
                <a:ext uri="{FF2B5EF4-FFF2-40B4-BE49-F238E27FC236}">
                  <a16:creationId xmlns:a16="http://schemas.microsoft.com/office/drawing/2014/main" id="{F6A0C8EC-C911-DA53-1E46-8D232B24A493}"/>
                </a:ext>
              </a:extLst>
            </p:cNvPr>
            <p:cNvCxnSpPr>
              <a:stCxn id="233" idx="3"/>
              <a:endCxn id="239" idx="3"/>
            </p:cNvCxnSpPr>
            <p:nvPr/>
          </p:nvCxnSpPr>
          <p:spPr>
            <a:xfrm>
              <a:off x="8688207" y="2836698"/>
              <a:ext cx="979470" cy="1042580"/>
            </a:xfrm>
            <a:prstGeom prst="curvedConnector3">
              <a:avLst>
                <a:gd name="adj1" fmla="val 123339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连接符: 曲线 241">
              <a:extLst>
                <a:ext uri="{FF2B5EF4-FFF2-40B4-BE49-F238E27FC236}">
                  <a16:creationId xmlns:a16="http://schemas.microsoft.com/office/drawing/2014/main" id="{42E4281A-3EA9-77A1-22AB-DEDE6593C81E}"/>
                </a:ext>
              </a:extLst>
            </p:cNvPr>
            <p:cNvCxnSpPr>
              <a:stCxn id="239" idx="2"/>
              <a:endCxn id="232" idx="3"/>
            </p:cNvCxnSpPr>
            <p:nvPr/>
          </p:nvCxnSpPr>
          <p:spPr>
            <a:xfrm rot="5400000">
              <a:off x="8461491" y="4317350"/>
              <a:ext cx="877458" cy="768114"/>
            </a:xfrm>
            <a:prstGeom prst="curved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连接符: 曲线 242">
              <a:extLst>
                <a:ext uri="{FF2B5EF4-FFF2-40B4-BE49-F238E27FC236}">
                  <a16:creationId xmlns:a16="http://schemas.microsoft.com/office/drawing/2014/main" id="{22ADCBEB-B37B-0C45-AB53-A0D24B1EA060}"/>
                </a:ext>
              </a:extLst>
            </p:cNvPr>
            <p:cNvCxnSpPr>
              <a:stCxn id="232" idx="1"/>
              <a:endCxn id="231" idx="1"/>
            </p:cNvCxnSpPr>
            <p:nvPr/>
          </p:nvCxnSpPr>
          <p:spPr>
            <a:xfrm rot="10800000">
              <a:off x="6499891" y="4862790"/>
              <a:ext cx="1249472" cy="277347"/>
            </a:xfrm>
            <a:prstGeom prst="curvedConnector5">
              <a:avLst>
                <a:gd name="adj1" fmla="val 19315"/>
                <a:gd name="adj2" fmla="val -120662"/>
                <a:gd name="adj3" fmla="val 118296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连接符: 曲线 243">
              <a:extLst>
                <a:ext uri="{FF2B5EF4-FFF2-40B4-BE49-F238E27FC236}">
                  <a16:creationId xmlns:a16="http://schemas.microsoft.com/office/drawing/2014/main" id="{B36F89F5-B2C5-1867-F155-3367D384BF5B}"/>
                </a:ext>
              </a:extLst>
            </p:cNvPr>
            <p:cNvCxnSpPr>
              <a:stCxn id="231" idx="1"/>
              <a:endCxn id="236" idx="1"/>
            </p:cNvCxnSpPr>
            <p:nvPr/>
          </p:nvCxnSpPr>
          <p:spPr>
            <a:xfrm rot="10800000">
              <a:off x="5308711" y="4229799"/>
              <a:ext cx="1191181" cy="632991"/>
            </a:xfrm>
            <a:prstGeom prst="curvedConnector3">
              <a:avLst>
                <a:gd name="adj1" fmla="val 119191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连接符: 曲线 244">
              <a:extLst>
                <a:ext uri="{FF2B5EF4-FFF2-40B4-BE49-F238E27FC236}">
                  <a16:creationId xmlns:a16="http://schemas.microsoft.com/office/drawing/2014/main" id="{E1359558-95E8-8A74-7A5C-6B228A2EA3C8}"/>
                </a:ext>
              </a:extLst>
            </p:cNvPr>
            <p:cNvCxnSpPr>
              <a:stCxn id="236" idx="1"/>
              <a:endCxn id="230" idx="1"/>
            </p:cNvCxnSpPr>
            <p:nvPr/>
          </p:nvCxnSpPr>
          <p:spPr>
            <a:xfrm rot="10800000">
              <a:off x="5148674" y="3300762"/>
              <a:ext cx="160036" cy="929036"/>
            </a:xfrm>
            <a:prstGeom prst="curvedConnector3">
              <a:avLst>
                <a:gd name="adj1" fmla="val 242843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连接符: 曲线 245">
              <a:extLst>
                <a:ext uri="{FF2B5EF4-FFF2-40B4-BE49-F238E27FC236}">
                  <a16:creationId xmlns:a16="http://schemas.microsoft.com/office/drawing/2014/main" id="{922D8918-6673-A4BE-B78C-40DAAB4183ED}"/>
                </a:ext>
              </a:extLst>
            </p:cNvPr>
            <p:cNvCxnSpPr>
              <a:stCxn id="230" idx="1"/>
              <a:endCxn id="229" idx="0"/>
            </p:cNvCxnSpPr>
            <p:nvPr/>
          </p:nvCxnSpPr>
          <p:spPr>
            <a:xfrm rot="10800000" flipH="1">
              <a:off x="5148674" y="1952144"/>
              <a:ext cx="1150200" cy="1348618"/>
            </a:xfrm>
            <a:prstGeom prst="curvedConnector4">
              <a:avLst>
                <a:gd name="adj1" fmla="val -19875"/>
                <a:gd name="adj2" fmla="val 116951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连接符: 曲线 246">
              <a:extLst>
                <a:ext uri="{FF2B5EF4-FFF2-40B4-BE49-F238E27FC236}">
                  <a16:creationId xmlns:a16="http://schemas.microsoft.com/office/drawing/2014/main" id="{B6136550-D484-9310-4799-E46F7EF610C6}"/>
                </a:ext>
              </a:extLst>
            </p:cNvPr>
            <p:cNvCxnSpPr>
              <a:stCxn id="229" idx="0"/>
              <a:endCxn id="238" idx="0"/>
            </p:cNvCxnSpPr>
            <p:nvPr/>
          </p:nvCxnSpPr>
          <p:spPr>
            <a:xfrm rot="5400000" flipH="1" flipV="1">
              <a:off x="6796940" y="999722"/>
              <a:ext cx="454356" cy="1450489"/>
            </a:xfrm>
            <a:prstGeom prst="curvedConnector3">
              <a:avLst>
                <a:gd name="adj1" fmla="val 150313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连接符: 曲线 247">
              <a:extLst>
                <a:ext uri="{FF2B5EF4-FFF2-40B4-BE49-F238E27FC236}">
                  <a16:creationId xmlns:a16="http://schemas.microsoft.com/office/drawing/2014/main" id="{11976672-73CA-9A4D-1E3C-3B2D7567526A}"/>
                </a:ext>
              </a:extLst>
            </p:cNvPr>
            <p:cNvCxnSpPr>
              <a:stCxn id="230" idx="3"/>
              <a:endCxn id="235" idx="1"/>
            </p:cNvCxnSpPr>
            <p:nvPr/>
          </p:nvCxnSpPr>
          <p:spPr>
            <a:xfrm>
              <a:off x="5915474" y="3300762"/>
              <a:ext cx="584417" cy="343770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连接符: 曲线 248">
              <a:extLst>
                <a:ext uri="{FF2B5EF4-FFF2-40B4-BE49-F238E27FC236}">
                  <a16:creationId xmlns:a16="http://schemas.microsoft.com/office/drawing/2014/main" id="{FA8DB8A9-C8E3-54CD-9C3C-13A11827950D}"/>
                </a:ext>
              </a:extLst>
            </p:cNvPr>
            <p:cNvCxnSpPr>
              <a:stCxn id="231" idx="3"/>
              <a:endCxn id="237" idx="2"/>
            </p:cNvCxnSpPr>
            <p:nvPr/>
          </p:nvCxnSpPr>
          <p:spPr>
            <a:xfrm flipV="1">
              <a:off x="7266691" y="4636756"/>
              <a:ext cx="482672" cy="226033"/>
            </a:xfrm>
            <a:prstGeom prst="curved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连接符: 曲线 249">
              <a:extLst>
                <a:ext uri="{FF2B5EF4-FFF2-40B4-BE49-F238E27FC236}">
                  <a16:creationId xmlns:a16="http://schemas.microsoft.com/office/drawing/2014/main" id="{53164D4D-682D-F262-FB99-E179628ED60A}"/>
                </a:ext>
              </a:extLst>
            </p:cNvPr>
            <p:cNvCxnSpPr>
              <a:stCxn id="237" idx="3"/>
              <a:endCxn id="239" idx="1"/>
            </p:cNvCxnSpPr>
            <p:nvPr/>
          </p:nvCxnSpPr>
          <p:spPr>
            <a:xfrm flipV="1">
              <a:off x="8132763" y="3879278"/>
              <a:ext cx="768114" cy="374078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连接符: 曲线 250">
              <a:extLst>
                <a:ext uri="{FF2B5EF4-FFF2-40B4-BE49-F238E27FC236}">
                  <a16:creationId xmlns:a16="http://schemas.microsoft.com/office/drawing/2014/main" id="{580A4A56-6E44-DE9B-CC4A-AE879FABB844}"/>
                </a:ext>
              </a:extLst>
            </p:cNvPr>
            <p:cNvCxnSpPr>
              <a:cxnSpLocks/>
              <a:stCxn id="239" idx="0"/>
              <a:endCxn id="235" idx="3"/>
            </p:cNvCxnSpPr>
            <p:nvPr/>
          </p:nvCxnSpPr>
          <p:spPr>
            <a:xfrm rot="16200000" flipH="1" flipV="1">
              <a:off x="8201157" y="2561412"/>
              <a:ext cx="148654" cy="2017586"/>
            </a:xfrm>
            <a:prstGeom prst="curvedConnector4">
              <a:avLst>
                <a:gd name="adj1" fmla="val -153780"/>
                <a:gd name="adj2" fmla="val 59501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连接符: 曲线 251">
              <a:extLst>
                <a:ext uri="{FF2B5EF4-FFF2-40B4-BE49-F238E27FC236}">
                  <a16:creationId xmlns:a16="http://schemas.microsoft.com/office/drawing/2014/main" id="{61129FB3-1FC2-107D-1871-D7EA91E994FC}"/>
                </a:ext>
              </a:extLst>
            </p:cNvPr>
            <p:cNvCxnSpPr>
              <a:stCxn id="236" idx="3"/>
              <a:endCxn id="237" idx="1"/>
            </p:cNvCxnSpPr>
            <p:nvPr/>
          </p:nvCxnSpPr>
          <p:spPr>
            <a:xfrm>
              <a:off x="6075510" y="4229798"/>
              <a:ext cx="1290453" cy="23558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连接符: 曲线 252">
              <a:extLst>
                <a:ext uri="{FF2B5EF4-FFF2-40B4-BE49-F238E27FC236}">
                  <a16:creationId xmlns:a16="http://schemas.microsoft.com/office/drawing/2014/main" id="{39B82B12-CD18-B344-542E-315A55ADC356}"/>
                </a:ext>
              </a:extLst>
            </p:cNvPr>
            <p:cNvCxnSpPr>
              <a:stCxn id="229" idx="2"/>
            </p:cNvCxnSpPr>
            <p:nvPr/>
          </p:nvCxnSpPr>
          <p:spPr>
            <a:xfrm rot="16200000" flipH="1">
              <a:off x="6488671" y="2529146"/>
              <a:ext cx="198417" cy="578011"/>
            </a:xfrm>
            <a:prstGeom prst="curved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连接符: 曲线 253">
              <a:extLst>
                <a:ext uri="{FF2B5EF4-FFF2-40B4-BE49-F238E27FC236}">
                  <a16:creationId xmlns:a16="http://schemas.microsoft.com/office/drawing/2014/main" id="{F32A64F2-58D0-A0B0-6714-BFA53DA88D00}"/>
                </a:ext>
              </a:extLst>
            </p:cNvPr>
            <p:cNvCxnSpPr>
              <a:stCxn id="238" idx="2"/>
              <a:endCxn id="234" idx="3"/>
            </p:cNvCxnSpPr>
            <p:nvPr/>
          </p:nvCxnSpPr>
          <p:spPr>
            <a:xfrm rot="5400000">
              <a:off x="7455363" y="2422044"/>
              <a:ext cx="451457" cy="136544"/>
            </a:xfrm>
            <a:prstGeom prst="curvedConnector2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66116698-2C03-FAF7-27CF-B64B8EB328EF}"/>
              </a:ext>
            </a:extLst>
          </p:cNvPr>
          <p:cNvCxnSpPr>
            <a:stCxn id="43" idx="1"/>
            <a:endCxn id="45" idx="0"/>
          </p:cNvCxnSpPr>
          <p:nvPr/>
        </p:nvCxnSpPr>
        <p:spPr>
          <a:xfrm rot="10800000" flipV="1">
            <a:off x="6866712" y="2042397"/>
            <a:ext cx="463728" cy="335648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7" name="Google Shape;89;p17">
            <a:extLst>
              <a:ext uri="{FF2B5EF4-FFF2-40B4-BE49-F238E27FC236}">
                <a16:creationId xmlns:a16="http://schemas.microsoft.com/office/drawing/2014/main" id="{CB93183B-9197-5122-4951-64372427AA55}"/>
              </a:ext>
            </a:extLst>
          </p:cNvPr>
          <p:cNvGrpSpPr/>
          <p:nvPr/>
        </p:nvGrpSpPr>
        <p:grpSpPr>
          <a:xfrm rot="5400000">
            <a:off x="7924847" y="4862363"/>
            <a:ext cx="1039004" cy="273685"/>
            <a:chOff x="2854300" y="1168125"/>
            <a:chExt cx="2904000" cy="532800"/>
          </a:xfrm>
        </p:grpSpPr>
        <p:sp>
          <p:nvSpPr>
            <p:cNvPr id="258" name="Google Shape;90;p17">
              <a:extLst>
                <a:ext uri="{FF2B5EF4-FFF2-40B4-BE49-F238E27FC236}">
                  <a16:creationId xmlns:a16="http://schemas.microsoft.com/office/drawing/2014/main" id="{A28230BD-285B-7EA3-770B-911B3860F07E}"/>
                </a:ext>
              </a:extLst>
            </p:cNvPr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solidFill>
              <a:schemeClr val="bg1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91;p17">
              <a:extLst>
                <a:ext uri="{FF2B5EF4-FFF2-40B4-BE49-F238E27FC236}">
                  <a16:creationId xmlns:a16="http://schemas.microsoft.com/office/drawing/2014/main" id="{0E018008-1A15-16B6-A4CF-0881BFCA4BB6}"/>
                </a:ext>
              </a:extLst>
            </p:cNvPr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92;p17">
              <a:extLst>
                <a:ext uri="{FF2B5EF4-FFF2-40B4-BE49-F238E27FC236}">
                  <a16:creationId xmlns:a16="http://schemas.microsoft.com/office/drawing/2014/main" id="{99483CF3-5223-D1F2-4AE2-24D2C682B47C}"/>
                </a:ext>
              </a:extLst>
            </p:cNvPr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93;p17">
              <a:extLst>
                <a:ext uri="{FF2B5EF4-FFF2-40B4-BE49-F238E27FC236}">
                  <a16:creationId xmlns:a16="http://schemas.microsoft.com/office/drawing/2014/main" id="{A46B9A6B-0926-FE4E-386F-C1AC92FE90BC}"/>
                </a:ext>
              </a:extLst>
            </p:cNvPr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solidFill>
              <a:srgbClr val="00B0F0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94;p17">
              <a:extLst>
                <a:ext uri="{FF2B5EF4-FFF2-40B4-BE49-F238E27FC236}">
                  <a16:creationId xmlns:a16="http://schemas.microsoft.com/office/drawing/2014/main" id="{5B24E1E6-AA9D-4601-2F6D-4447540A4522}"/>
                </a:ext>
              </a:extLst>
            </p:cNvPr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3" name="矩形: 圆角 262">
            <a:extLst>
              <a:ext uri="{FF2B5EF4-FFF2-40B4-BE49-F238E27FC236}">
                <a16:creationId xmlns:a16="http://schemas.microsoft.com/office/drawing/2014/main" id="{C1588AEE-9DD0-A396-FBF7-06DFCD4645DB}"/>
              </a:ext>
            </a:extLst>
          </p:cNvPr>
          <p:cNvSpPr/>
          <p:nvPr/>
        </p:nvSpPr>
        <p:spPr>
          <a:xfrm>
            <a:off x="8002330" y="5514549"/>
            <a:ext cx="788812" cy="256689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D=128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pic>
        <p:nvPicPr>
          <p:cNvPr id="321" name="图形 320" descr="统计">
            <a:extLst>
              <a:ext uri="{FF2B5EF4-FFF2-40B4-BE49-F238E27FC236}">
                <a16:creationId xmlns:a16="http://schemas.microsoft.com/office/drawing/2014/main" id="{BFA8EAC9-B328-A340-334E-CBD4BAFF247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01899" y="3485933"/>
            <a:ext cx="914400" cy="914400"/>
          </a:xfrm>
          <a:prstGeom prst="rect">
            <a:avLst/>
          </a:prstGeom>
        </p:spPr>
      </p:pic>
      <p:pic>
        <p:nvPicPr>
          <p:cNvPr id="323" name="图形 322" descr="连接">
            <a:extLst>
              <a:ext uri="{FF2B5EF4-FFF2-40B4-BE49-F238E27FC236}">
                <a16:creationId xmlns:a16="http://schemas.microsoft.com/office/drawing/2014/main" id="{75632D19-784A-0EB1-B210-21A6956EEFA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23079" y="4576430"/>
            <a:ext cx="914400" cy="914400"/>
          </a:xfrm>
          <a:prstGeom prst="rect">
            <a:avLst/>
          </a:prstGeom>
        </p:spPr>
      </p:pic>
      <p:pic>
        <p:nvPicPr>
          <p:cNvPr id="325" name="图形 324" descr="网络">
            <a:extLst>
              <a:ext uri="{FF2B5EF4-FFF2-40B4-BE49-F238E27FC236}">
                <a16:creationId xmlns:a16="http://schemas.microsoft.com/office/drawing/2014/main" id="{6D5B6A10-F6B3-5255-EEB6-3890A74131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95909" y="2639628"/>
            <a:ext cx="761505" cy="761505"/>
          </a:xfrm>
          <a:prstGeom prst="rect">
            <a:avLst/>
          </a:prstGeom>
        </p:spPr>
      </p:pic>
      <p:pic>
        <p:nvPicPr>
          <p:cNvPr id="327" name="图形 326" descr="条形图">
            <a:extLst>
              <a:ext uri="{FF2B5EF4-FFF2-40B4-BE49-F238E27FC236}">
                <a16:creationId xmlns:a16="http://schemas.microsoft.com/office/drawing/2014/main" id="{F87AE512-7572-DF29-4D83-CEEEB1D5C0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00048" y="2669589"/>
            <a:ext cx="894997" cy="894997"/>
          </a:xfrm>
          <a:prstGeom prst="rect">
            <a:avLst/>
          </a:prstGeom>
        </p:spPr>
      </p:pic>
      <p:sp>
        <p:nvSpPr>
          <p:cNvPr id="328" name="矩形: 圆角 327">
            <a:extLst>
              <a:ext uri="{FF2B5EF4-FFF2-40B4-BE49-F238E27FC236}">
                <a16:creationId xmlns:a16="http://schemas.microsoft.com/office/drawing/2014/main" id="{9123595B-BB35-BFB2-D71B-7D4EDB0153D1}"/>
              </a:ext>
            </a:extLst>
          </p:cNvPr>
          <p:cNvSpPr/>
          <p:nvPr/>
        </p:nvSpPr>
        <p:spPr>
          <a:xfrm>
            <a:off x="10474590" y="3413193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bg1"/>
                </a:solidFill>
              </a:rPr>
              <a:t>T=0</a:t>
            </a: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增加</a:t>
            </a:r>
            <a:r>
              <a:rPr lang="en-US" altLang="zh-CN" sz="1000" b="1" dirty="0">
                <a:solidFill>
                  <a:schemeClr val="bg1"/>
                </a:solidFill>
              </a:rPr>
              <a:t>/</a:t>
            </a:r>
            <a:r>
              <a:rPr lang="zh-CN" altLang="en-US" sz="1000" b="1" dirty="0">
                <a:solidFill>
                  <a:schemeClr val="bg1"/>
                </a:solidFill>
              </a:rPr>
              <a:t>更新节点</a:t>
            </a:r>
            <a:endParaRPr lang="en-US" altLang="zh-CN" sz="1000" b="1" dirty="0">
              <a:solidFill>
                <a:schemeClr val="bg1"/>
              </a:solidFill>
            </a:endParaRPr>
          </a:p>
        </p:txBody>
      </p:sp>
      <p:pic>
        <p:nvPicPr>
          <p:cNvPr id="329" name="图形 328" descr="条形图">
            <a:extLst>
              <a:ext uri="{FF2B5EF4-FFF2-40B4-BE49-F238E27FC236}">
                <a16:creationId xmlns:a16="http://schemas.microsoft.com/office/drawing/2014/main" id="{6C280E5E-11A4-D0D6-C101-42FE6B2AC22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20560" y="3671795"/>
            <a:ext cx="894997" cy="894997"/>
          </a:xfrm>
          <a:prstGeom prst="rect">
            <a:avLst/>
          </a:prstGeom>
        </p:spPr>
      </p:pic>
      <p:sp>
        <p:nvSpPr>
          <p:cNvPr id="330" name="矩形: 圆角 329">
            <a:extLst>
              <a:ext uri="{FF2B5EF4-FFF2-40B4-BE49-F238E27FC236}">
                <a16:creationId xmlns:a16="http://schemas.microsoft.com/office/drawing/2014/main" id="{5E87F3AE-8B7A-A2B8-557B-30687ABC4740}"/>
              </a:ext>
            </a:extLst>
          </p:cNvPr>
          <p:cNvSpPr/>
          <p:nvPr/>
        </p:nvSpPr>
        <p:spPr>
          <a:xfrm>
            <a:off x="10484586" y="4409106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bg1"/>
                </a:solidFill>
              </a:rPr>
              <a:t>T=1</a:t>
            </a: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修改边关系</a:t>
            </a:r>
            <a:endParaRPr lang="en-US" altLang="zh-CN" sz="1000" b="1" dirty="0">
              <a:solidFill>
                <a:schemeClr val="bg1"/>
              </a:solidFill>
            </a:endParaRPr>
          </a:p>
        </p:txBody>
      </p:sp>
      <p:pic>
        <p:nvPicPr>
          <p:cNvPr id="331" name="图形 330" descr="条形图">
            <a:extLst>
              <a:ext uri="{FF2B5EF4-FFF2-40B4-BE49-F238E27FC236}">
                <a16:creationId xmlns:a16="http://schemas.microsoft.com/office/drawing/2014/main" id="{3B6453A6-05E9-B4D3-B33D-E9A72AB8AE8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42113" y="4671091"/>
            <a:ext cx="894997" cy="894997"/>
          </a:xfrm>
          <a:prstGeom prst="rect">
            <a:avLst/>
          </a:prstGeom>
        </p:spPr>
      </p:pic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25CAE999-77E8-04BE-7C0A-D4DD4A93AA35}"/>
              </a:ext>
            </a:extLst>
          </p:cNvPr>
          <p:cNvSpPr/>
          <p:nvPr/>
        </p:nvSpPr>
        <p:spPr>
          <a:xfrm>
            <a:off x="10541373" y="5421313"/>
            <a:ext cx="1104123" cy="362717"/>
          </a:xfrm>
          <a:prstGeom prst="roundRect">
            <a:avLst/>
          </a:prstGeom>
          <a:solidFill>
            <a:srgbClr val="4472C4">
              <a:alpha val="0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bg1"/>
                </a:solidFill>
              </a:rPr>
              <a:t>T=2</a:t>
            </a: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调整权重</a:t>
            </a:r>
            <a:endParaRPr lang="en-US" altLang="zh-CN" sz="1000" b="1" dirty="0">
              <a:solidFill>
                <a:schemeClr val="bg1"/>
              </a:solidFill>
            </a:endParaRPr>
          </a:p>
        </p:txBody>
      </p: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372245B4-57BB-ED27-A3C9-80CD2F6985BF}"/>
              </a:ext>
            </a:extLst>
          </p:cNvPr>
          <p:cNvCxnSpPr/>
          <p:nvPr/>
        </p:nvCxnSpPr>
        <p:spPr>
          <a:xfrm flipH="1">
            <a:off x="10104120" y="3198933"/>
            <a:ext cx="607092" cy="473873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DEC5280B-9995-3837-0978-23A734978CA3}"/>
              </a:ext>
            </a:extLst>
          </p:cNvPr>
          <p:cNvCxnSpPr/>
          <p:nvPr/>
        </p:nvCxnSpPr>
        <p:spPr>
          <a:xfrm flipH="1">
            <a:off x="10348256" y="4154659"/>
            <a:ext cx="36295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5DECDAB2-BC52-C3FA-B2AE-A5CB01D92EE7}"/>
              </a:ext>
            </a:extLst>
          </p:cNvPr>
          <p:cNvCxnSpPr/>
          <p:nvPr/>
        </p:nvCxnSpPr>
        <p:spPr>
          <a:xfrm flipH="1" flipV="1">
            <a:off x="10188712" y="4477078"/>
            <a:ext cx="532545" cy="66642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9B7BB651-1C6F-801B-89C1-25C67E6DAF13}"/>
              </a:ext>
            </a:extLst>
          </p:cNvPr>
          <p:cNvCxnSpPr>
            <a:stCxn id="53" idx="0"/>
          </p:cNvCxnSpPr>
          <p:nvPr/>
        </p:nvCxnSpPr>
        <p:spPr>
          <a:xfrm flipH="1" flipV="1">
            <a:off x="6890938" y="3198933"/>
            <a:ext cx="1" cy="31382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B120BC5E-F1DC-CEC9-D493-A61913313A02}"/>
              </a:ext>
            </a:extLst>
          </p:cNvPr>
          <p:cNvCxnSpPr/>
          <p:nvPr/>
        </p:nvCxnSpPr>
        <p:spPr>
          <a:xfrm>
            <a:off x="7200900" y="4166567"/>
            <a:ext cx="52377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E6DC66A6-C71A-008C-80CD-863CE1CCD7A7}"/>
              </a:ext>
            </a:extLst>
          </p:cNvPr>
          <p:cNvCxnSpPr>
            <a:cxnSpLocks/>
          </p:cNvCxnSpPr>
          <p:nvPr/>
        </p:nvCxnSpPr>
        <p:spPr>
          <a:xfrm>
            <a:off x="8130620" y="3209872"/>
            <a:ext cx="1" cy="20043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1ED36C26-3F4B-8C97-38D5-AEFDA013874F}"/>
              </a:ext>
            </a:extLst>
          </p:cNvPr>
          <p:cNvCxnSpPr/>
          <p:nvPr/>
        </p:nvCxnSpPr>
        <p:spPr>
          <a:xfrm>
            <a:off x="7200900" y="2920922"/>
            <a:ext cx="36170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C916B28F-5182-D3AF-FFA1-D42C08A17484}"/>
              </a:ext>
            </a:extLst>
          </p:cNvPr>
          <p:cNvCxnSpPr>
            <a:cxnSpLocks/>
          </p:cNvCxnSpPr>
          <p:nvPr/>
        </p:nvCxnSpPr>
        <p:spPr>
          <a:xfrm>
            <a:off x="8051577" y="4338727"/>
            <a:ext cx="0" cy="36033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1" name="图片 370">
            <a:extLst>
              <a:ext uri="{FF2B5EF4-FFF2-40B4-BE49-F238E27FC236}">
                <a16:creationId xmlns:a16="http://schemas.microsoft.com/office/drawing/2014/main" id="{6CB960E1-6986-5845-CB65-F8815FE3CF4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922" y="2394904"/>
            <a:ext cx="1023390" cy="732426"/>
          </a:xfrm>
          <a:prstGeom prst="rect">
            <a:avLst/>
          </a:prstGeom>
        </p:spPr>
      </p:pic>
      <p:cxnSp>
        <p:nvCxnSpPr>
          <p:cNvPr id="366" name="连接符: 肘形 365">
            <a:extLst>
              <a:ext uri="{FF2B5EF4-FFF2-40B4-BE49-F238E27FC236}">
                <a16:creationId xmlns:a16="http://schemas.microsoft.com/office/drawing/2014/main" id="{B55204AF-E940-B3CA-514F-F9A3722F0383}"/>
              </a:ext>
            </a:extLst>
          </p:cNvPr>
          <p:cNvCxnSpPr>
            <a:cxnSpLocks/>
          </p:cNvCxnSpPr>
          <p:nvPr/>
        </p:nvCxnSpPr>
        <p:spPr>
          <a:xfrm>
            <a:off x="8655480" y="2806184"/>
            <a:ext cx="448015" cy="10658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54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213</Words>
  <Application>Microsoft Office PowerPoint</Application>
  <PresentationFormat>宽屏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 梁</dc:creator>
  <cp:lastModifiedBy>鹏 梁</cp:lastModifiedBy>
  <cp:revision>29</cp:revision>
  <dcterms:created xsi:type="dcterms:W3CDTF">2025-09-19T09:02:06Z</dcterms:created>
  <dcterms:modified xsi:type="dcterms:W3CDTF">2025-09-19T11:57:42Z</dcterms:modified>
</cp:coreProperties>
</file>