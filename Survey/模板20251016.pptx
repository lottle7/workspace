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073"/>
    <a:srgbClr val="EC1C24"/>
    <a:srgbClr val="10AAE2"/>
    <a:srgbClr val="F6BB8C"/>
    <a:srgbClr val="F9E2D3"/>
    <a:srgbClr val="C11D24"/>
    <a:srgbClr val="F3A759"/>
    <a:srgbClr val="E6E3A0"/>
    <a:srgbClr val="B2D699"/>
    <a:srgbClr val="BF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9" autoAdjust="0"/>
    <p:restoredTop sz="94660"/>
  </p:normalViewPr>
  <p:slideViewPr>
    <p:cSldViewPr snapToGrid="0">
      <p:cViewPr>
        <p:scale>
          <a:sx n="25" d="100"/>
          <a:sy n="25" d="100"/>
        </p:scale>
        <p:origin x="3282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92">
            <a:extLst>
              <a:ext uri="{FF2B5EF4-FFF2-40B4-BE49-F238E27FC236}">
                <a16:creationId xmlns:a16="http://schemas.microsoft.com/office/drawing/2014/main" id="{598966DC-65FA-4364-BD9E-B7AC06E5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15" y="1884168"/>
            <a:ext cx="19313494" cy="15477646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17A3F436-BC0D-41F7-A597-E5B17F9F6D40}"/>
              </a:ext>
            </a:extLst>
          </p:cNvPr>
          <p:cNvSpPr txBox="1"/>
          <p:nvPr/>
        </p:nvSpPr>
        <p:spPr>
          <a:xfrm>
            <a:off x="241931" y="-135285"/>
            <a:ext cx="20969126" cy="2438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726125" indent="-726125" algn="l">
              <a:buFont typeface="Wingdings" panose="05000000000000000000" pitchFamily="2" charset="2"/>
              <a:buChar char="n"/>
            </a:pPr>
            <a:r>
              <a:rPr lang="en-US" altLang="zh-CN" sz="5082" dirty="0"/>
              <a:t>Performance-driven closed-loop optimization and control for smart manufacturing processes in the cloud-edge-device collaborative architecture: A review and new perspectives 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ADC83CC5-05D7-4471-B605-C5B4CF6FF33C}"/>
              </a:ext>
            </a:extLst>
          </p:cNvPr>
          <p:cNvSpPr/>
          <p:nvPr/>
        </p:nvSpPr>
        <p:spPr>
          <a:xfrm>
            <a:off x="1425398" y="16489270"/>
            <a:ext cx="18571745" cy="18572400"/>
          </a:xfrm>
          <a:prstGeom prst="ellipse">
            <a:avLst/>
          </a:prstGeom>
          <a:solidFill>
            <a:srgbClr val="E8EEF0"/>
          </a:solidFill>
          <a:scene3d>
            <a:camera prst="isometricTopUp"/>
            <a:lightRig rig="contrasting" dir="t"/>
          </a:scene3d>
          <a:sp3d extrusionH="1117600" contourW="38100">
            <a:extrusionClr>
              <a:srgbClr val="E8EEF0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963A48B-5FB8-49B0-B7F7-4E3F6C535A39}"/>
              </a:ext>
            </a:extLst>
          </p:cNvPr>
          <p:cNvSpPr/>
          <p:nvPr/>
        </p:nvSpPr>
        <p:spPr>
          <a:xfrm>
            <a:off x="2879762" y="16856432"/>
            <a:ext cx="15840000" cy="15840000"/>
          </a:xfrm>
          <a:prstGeom prst="ellipse">
            <a:avLst/>
          </a:prstGeom>
          <a:solidFill>
            <a:srgbClr val="B2D5E3"/>
          </a:solidFill>
          <a:scene3d>
            <a:camera prst="isometricTopUp"/>
            <a:lightRig rig="contrasting" dir="t"/>
          </a:scene3d>
          <a:sp3d extrusionH="1117600" contourW="38100">
            <a:extrusionClr>
              <a:srgbClr val="B2D5E8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箭头: 右 97">
            <a:extLst>
              <a:ext uri="{FF2B5EF4-FFF2-40B4-BE49-F238E27FC236}">
                <a16:creationId xmlns:a16="http://schemas.microsoft.com/office/drawing/2014/main" id="{0549DC0C-24B6-47C8-8DA3-6B61FC5A8FFD}"/>
              </a:ext>
            </a:extLst>
          </p:cNvPr>
          <p:cNvSpPr/>
          <p:nvPr/>
        </p:nvSpPr>
        <p:spPr>
          <a:xfrm>
            <a:off x="2069190" y="17218554"/>
            <a:ext cx="17280694" cy="1013730"/>
          </a:xfrm>
          <a:prstGeom prst="rightArrow">
            <a:avLst/>
          </a:prstGeom>
          <a:gradFill flip="none" rotWithShape="1">
            <a:gsLst>
              <a:gs pos="0">
                <a:srgbClr val="A9D28C"/>
              </a:gs>
              <a:gs pos="34000">
                <a:srgbClr val="E6E3A0"/>
              </a:gs>
              <a:gs pos="63000">
                <a:srgbClr val="F3A759"/>
              </a:gs>
              <a:gs pos="100000">
                <a:srgbClr val="BF1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B177EDD3-DE8E-4CA7-936E-D2DF97335BC1}"/>
              </a:ext>
            </a:extLst>
          </p:cNvPr>
          <p:cNvSpPr/>
          <p:nvPr/>
        </p:nvSpPr>
        <p:spPr>
          <a:xfrm>
            <a:off x="3546737" y="21261707"/>
            <a:ext cx="14325600" cy="7029450"/>
          </a:xfrm>
          <a:prstGeom prst="ellipse">
            <a:avLst/>
          </a:prstGeom>
          <a:noFill/>
          <a:ln w="254000">
            <a:gradFill>
              <a:gsLst>
                <a:gs pos="33000">
                  <a:srgbClr val="B2D699"/>
                </a:gs>
                <a:gs pos="48000">
                  <a:srgbClr val="E6E3A0"/>
                </a:gs>
                <a:gs pos="72000">
                  <a:srgbClr val="F3A759"/>
                </a:gs>
                <a:gs pos="100000">
                  <a:srgbClr val="C11D24"/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59466AEF-96C8-4470-AD68-A33A52A24A42}"/>
              </a:ext>
            </a:extLst>
          </p:cNvPr>
          <p:cNvSpPr/>
          <p:nvPr/>
        </p:nvSpPr>
        <p:spPr>
          <a:xfrm>
            <a:off x="4724482" y="17586033"/>
            <a:ext cx="12240000" cy="12240000"/>
          </a:xfrm>
          <a:prstGeom prst="ellipse">
            <a:avLst/>
          </a:prstGeom>
          <a:solidFill>
            <a:srgbClr val="67A9CE"/>
          </a:solidFill>
          <a:ln>
            <a:solidFill>
              <a:srgbClr val="67AACF"/>
            </a:solidFill>
          </a:ln>
          <a:scene3d>
            <a:camera prst="isometricTopUp"/>
            <a:lightRig rig="contrasting" dir="t"/>
          </a:scene3d>
          <a:sp3d extrusionH="838200" contourW="38100">
            <a:extrusionClr>
              <a:srgbClr val="67AACF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08ED4319-FE29-4488-B5FC-92F424583711}"/>
              </a:ext>
            </a:extLst>
          </p:cNvPr>
          <p:cNvSpPr/>
          <p:nvPr/>
        </p:nvSpPr>
        <p:spPr>
          <a:xfrm>
            <a:off x="5604386" y="21093471"/>
            <a:ext cx="10441859" cy="5368885"/>
          </a:xfrm>
          <a:prstGeom prst="ellipse">
            <a:avLst/>
          </a:prstGeom>
          <a:noFill/>
          <a:ln w="254000">
            <a:gradFill>
              <a:gsLst>
                <a:gs pos="33000">
                  <a:srgbClr val="B2D699"/>
                </a:gs>
                <a:gs pos="48000">
                  <a:srgbClr val="E6E3A0"/>
                </a:gs>
                <a:gs pos="72000">
                  <a:srgbClr val="F3A759"/>
                </a:gs>
                <a:gs pos="100000">
                  <a:srgbClr val="C11D24"/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429F8DB-C872-4393-B0DB-1969AE3228F0}"/>
              </a:ext>
            </a:extLst>
          </p:cNvPr>
          <p:cNvSpPr/>
          <p:nvPr/>
        </p:nvSpPr>
        <p:spPr>
          <a:xfrm>
            <a:off x="6119762" y="17320564"/>
            <a:ext cx="9360000" cy="9360000"/>
          </a:xfrm>
          <a:prstGeom prst="ellipse">
            <a:avLst/>
          </a:prstGeom>
          <a:solidFill>
            <a:srgbClr val="1376B1"/>
          </a:solidFill>
          <a:ln>
            <a:solidFill>
              <a:srgbClr val="67AACF"/>
            </a:solidFill>
          </a:ln>
          <a:scene3d>
            <a:camera prst="isometricTopUp"/>
            <a:lightRig rig="contrasting" dir="t"/>
          </a:scene3d>
          <a:sp3d extrusionH="1066800" contourW="38100">
            <a:extrusionClr>
              <a:srgbClr val="1376B1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9D5DD331-C710-4AE1-BC9E-0D8155723C71}"/>
              </a:ext>
            </a:extLst>
          </p:cNvPr>
          <p:cNvSpPr/>
          <p:nvPr/>
        </p:nvSpPr>
        <p:spPr>
          <a:xfrm>
            <a:off x="7226710" y="20415046"/>
            <a:ext cx="7138220" cy="2979173"/>
          </a:xfrm>
          <a:prstGeom prst="ellipse">
            <a:avLst/>
          </a:prstGeom>
          <a:noFill/>
          <a:ln w="254000">
            <a:gradFill>
              <a:gsLst>
                <a:gs pos="33000">
                  <a:srgbClr val="B2D699"/>
                </a:gs>
                <a:gs pos="48000">
                  <a:srgbClr val="E6E3A0"/>
                </a:gs>
                <a:gs pos="72000">
                  <a:srgbClr val="F3A759"/>
                </a:gs>
                <a:gs pos="100000">
                  <a:srgbClr val="C11D24"/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E9F10AD3-B819-4A59-A77B-D3F16E7E106F}"/>
              </a:ext>
            </a:extLst>
          </p:cNvPr>
          <p:cNvSpPr/>
          <p:nvPr/>
        </p:nvSpPr>
        <p:spPr>
          <a:xfrm>
            <a:off x="2970571" y="25025145"/>
            <a:ext cx="1715729" cy="530942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3ADC5D2B-77C7-4B1D-9DD8-D2BBC4617C64}"/>
              </a:ext>
            </a:extLst>
          </p:cNvPr>
          <p:cNvSpPr/>
          <p:nvPr/>
        </p:nvSpPr>
        <p:spPr>
          <a:xfrm>
            <a:off x="4056298" y="26930846"/>
            <a:ext cx="2291162" cy="530942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6B45C1E0-779A-4BFF-B71D-334511B46F55}"/>
              </a:ext>
            </a:extLst>
          </p:cNvPr>
          <p:cNvSpPr/>
          <p:nvPr/>
        </p:nvSpPr>
        <p:spPr>
          <a:xfrm>
            <a:off x="7131091" y="28267102"/>
            <a:ext cx="1715729" cy="530942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7A2A0EA-D866-48FD-AD3A-5BEFE27FB09D}"/>
              </a:ext>
            </a:extLst>
          </p:cNvPr>
          <p:cNvSpPr/>
          <p:nvPr/>
        </p:nvSpPr>
        <p:spPr>
          <a:xfrm>
            <a:off x="11093491" y="28267102"/>
            <a:ext cx="2889209" cy="530942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51233366-5CF4-4383-BAD4-C109EE1B4753}"/>
              </a:ext>
            </a:extLst>
          </p:cNvPr>
          <p:cNvSpPr/>
          <p:nvPr/>
        </p:nvSpPr>
        <p:spPr>
          <a:xfrm>
            <a:off x="15722641" y="26922172"/>
            <a:ext cx="1704299" cy="489508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AF1F6C99-8D0B-41DC-897C-D9461F71D15E}"/>
              </a:ext>
            </a:extLst>
          </p:cNvPr>
          <p:cNvSpPr/>
          <p:nvPr/>
        </p:nvSpPr>
        <p:spPr>
          <a:xfrm>
            <a:off x="16888501" y="24809817"/>
            <a:ext cx="1704299" cy="489508"/>
          </a:xfrm>
          <a:prstGeom prst="roundRect">
            <a:avLst/>
          </a:prstGeom>
          <a:solidFill>
            <a:srgbClr val="F9E2D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0126AFC5-B97B-4201-9D33-6939E0656A31}"/>
              </a:ext>
            </a:extLst>
          </p:cNvPr>
          <p:cNvSpPr/>
          <p:nvPr/>
        </p:nvSpPr>
        <p:spPr>
          <a:xfrm>
            <a:off x="5353091" y="24608522"/>
            <a:ext cx="1715729" cy="89209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6D1BE253-1249-468C-AB33-CB03ABFAD97E}"/>
              </a:ext>
            </a:extLst>
          </p:cNvPr>
          <p:cNvSpPr/>
          <p:nvPr/>
        </p:nvSpPr>
        <p:spPr>
          <a:xfrm>
            <a:off x="7410491" y="25776922"/>
            <a:ext cx="2355809" cy="94387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CC579DE9-EE5E-4A40-9795-F5FD319EB332}"/>
              </a:ext>
            </a:extLst>
          </p:cNvPr>
          <p:cNvSpPr/>
          <p:nvPr/>
        </p:nvSpPr>
        <p:spPr>
          <a:xfrm>
            <a:off x="10924561" y="25803247"/>
            <a:ext cx="2355809" cy="89209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B2481B12-6901-4B86-B5C4-92AA97D9E11D}"/>
              </a:ext>
            </a:extLst>
          </p:cNvPr>
          <p:cNvSpPr/>
          <p:nvPr/>
        </p:nvSpPr>
        <p:spPr>
          <a:xfrm>
            <a:off x="13761741" y="25158700"/>
            <a:ext cx="1715729" cy="682647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4E8342DE-62B9-4127-BB16-B0BD576B682C}"/>
              </a:ext>
            </a:extLst>
          </p:cNvPr>
          <p:cNvSpPr/>
          <p:nvPr/>
        </p:nvSpPr>
        <p:spPr>
          <a:xfrm>
            <a:off x="15062892" y="23931344"/>
            <a:ext cx="1715729" cy="89209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F54A82C1-9178-41C6-8529-4146B541E621}"/>
              </a:ext>
            </a:extLst>
          </p:cNvPr>
          <p:cNvSpPr/>
          <p:nvPr/>
        </p:nvSpPr>
        <p:spPr>
          <a:xfrm>
            <a:off x="13170866" y="21621225"/>
            <a:ext cx="1992934" cy="1024342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821B4F13-2962-49F5-8994-EAD349419562}"/>
              </a:ext>
            </a:extLst>
          </p:cNvPr>
          <p:cNvSpPr/>
          <p:nvPr/>
        </p:nvSpPr>
        <p:spPr>
          <a:xfrm>
            <a:off x="12693691" y="22898960"/>
            <a:ext cx="1715729" cy="530942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EC990968-80CE-4BEE-A5DD-5191317D5411}"/>
              </a:ext>
            </a:extLst>
          </p:cNvPr>
          <p:cNvSpPr/>
          <p:nvPr/>
        </p:nvSpPr>
        <p:spPr>
          <a:xfrm>
            <a:off x="10066696" y="22938598"/>
            <a:ext cx="2355809" cy="992746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45EF2FCF-BE6C-4484-B83B-653A9B24740F}"/>
              </a:ext>
            </a:extLst>
          </p:cNvPr>
          <p:cNvSpPr/>
          <p:nvPr/>
        </p:nvSpPr>
        <p:spPr>
          <a:xfrm>
            <a:off x="7570794" y="22635697"/>
            <a:ext cx="1992934" cy="94387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箭头: 右弧形 118">
            <a:extLst>
              <a:ext uri="{FF2B5EF4-FFF2-40B4-BE49-F238E27FC236}">
                <a16:creationId xmlns:a16="http://schemas.microsoft.com/office/drawing/2014/main" id="{989151DF-B84D-4CCC-A544-6228742D4441}"/>
              </a:ext>
            </a:extLst>
          </p:cNvPr>
          <p:cNvSpPr/>
          <p:nvPr/>
        </p:nvSpPr>
        <p:spPr>
          <a:xfrm rot="3113393" flipH="1">
            <a:off x="4527385" y="20526699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10A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0" name="箭头: 右弧形 119">
            <a:extLst>
              <a:ext uri="{FF2B5EF4-FFF2-40B4-BE49-F238E27FC236}">
                <a16:creationId xmlns:a16="http://schemas.microsoft.com/office/drawing/2014/main" id="{312A31B6-9F96-4F19-80FE-DFF4495ED8AD}"/>
              </a:ext>
            </a:extLst>
          </p:cNvPr>
          <p:cNvSpPr/>
          <p:nvPr/>
        </p:nvSpPr>
        <p:spPr>
          <a:xfrm rot="3113393" flipH="1">
            <a:off x="6871257" y="18676884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10A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1" name="箭头: 右弧形 120">
            <a:extLst>
              <a:ext uri="{FF2B5EF4-FFF2-40B4-BE49-F238E27FC236}">
                <a16:creationId xmlns:a16="http://schemas.microsoft.com/office/drawing/2014/main" id="{E09422E5-84ED-4D03-9BD5-0B2C2C032C58}"/>
              </a:ext>
            </a:extLst>
          </p:cNvPr>
          <p:cNvSpPr/>
          <p:nvPr/>
        </p:nvSpPr>
        <p:spPr>
          <a:xfrm rot="2634606" flipH="1">
            <a:off x="2495387" y="22152297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10A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F0C973B5-5FEE-4C71-BDC5-916067A969EB}"/>
              </a:ext>
            </a:extLst>
          </p:cNvPr>
          <p:cNvSpPr/>
          <p:nvPr/>
        </p:nvSpPr>
        <p:spPr>
          <a:xfrm>
            <a:off x="6552626" y="21090975"/>
            <a:ext cx="2502474" cy="892098"/>
          </a:xfrm>
          <a:prstGeom prst="roundRect">
            <a:avLst/>
          </a:prstGeom>
          <a:solidFill>
            <a:srgbClr val="F6BB8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箭头: 右弧形 122">
            <a:extLst>
              <a:ext uri="{FF2B5EF4-FFF2-40B4-BE49-F238E27FC236}">
                <a16:creationId xmlns:a16="http://schemas.microsoft.com/office/drawing/2014/main" id="{471DEFF9-A657-4C1F-A025-98D245EDF1F3}"/>
              </a:ext>
            </a:extLst>
          </p:cNvPr>
          <p:cNvSpPr/>
          <p:nvPr/>
        </p:nvSpPr>
        <p:spPr>
          <a:xfrm rot="8513393" flipH="1">
            <a:off x="12931286" y="18778484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EC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4" name="箭头: 右弧形 123">
            <a:extLst>
              <a:ext uri="{FF2B5EF4-FFF2-40B4-BE49-F238E27FC236}">
                <a16:creationId xmlns:a16="http://schemas.microsoft.com/office/drawing/2014/main" id="{3C59AFBF-A555-4E9D-B247-EB050B9CB97B}"/>
              </a:ext>
            </a:extLst>
          </p:cNvPr>
          <p:cNvSpPr/>
          <p:nvPr/>
        </p:nvSpPr>
        <p:spPr>
          <a:xfrm rot="8513393" flipH="1">
            <a:off x="15057630" y="20409471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EC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5" name="箭头: 右弧形 124">
            <a:extLst>
              <a:ext uri="{FF2B5EF4-FFF2-40B4-BE49-F238E27FC236}">
                <a16:creationId xmlns:a16="http://schemas.microsoft.com/office/drawing/2014/main" id="{6970FACF-F867-437E-873F-642BA8759707}"/>
              </a:ext>
            </a:extLst>
          </p:cNvPr>
          <p:cNvSpPr/>
          <p:nvPr/>
        </p:nvSpPr>
        <p:spPr>
          <a:xfrm rot="8513393" flipH="1">
            <a:off x="16792088" y="21837807"/>
            <a:ext cx="2102828" cy="1981200"/>
          </a:xfrm>
          <a:prstGeom prst="curvedLeftArrow">
            <a:avLst>
              <a:gd name="adj1" fmla="val 19545"/>
              <a:gd name="adj2" fmla="val 54930"/>
              <a:gd name="adj3" fmla="val 32853"/>
            </a:avLst>
          </a:prstGeom>
          <a:solidFill>
            <a:srgbClr val="EC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6" name="箭头: 下 125">
            <a:extLst>
              <a:ext uri="{FF2B5EF4-FFF2-40B4-BE49-F238E27FC236}">
                <a16:creationId xmlns:a16="http://schemas.microsoft.com/office/drawing/2014/main" id="{08CF7E56-C992-49A0-8DC6-C13E0AA44C6D}"/>
              </a:ext>
            </a:extLst>
          </p:cNvPr>
          <p:cNvSpPr/>
          <p:nvPr/>
        </p:nvSpPr>
        <p:spPr>
          <a:xfrm>
            <a:off x="8007370" y="18317028"/>
            <a:ext cx="6172241" cy="2935170"/>
          </a:xfrm>
          <a:prstGeom prst="downArrow">
            <a:avLst>
              <a:gd name="adj1" fmla="val 46237"/>
              <a:gd name="adj2" fmla="val 30952"/>
            </a:avLst>
          </a:prstGeom>
          <a:solidFill>
            <a:srgbClr val="184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6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20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佳慧 王</cp:lastModifiedBy>
  <cp:revision>32</cp:revision>
  <dcterms:created xsi:type="dcterms:W3CDTF">2025-09-29T11:46:49Z</dcterms:created>
  <dcterms:modified xsi:type="dcterms:W3CDTF">2025-10-16T07:46:49Z</dcterms:modified>
</cp:coreProperties>
</file>